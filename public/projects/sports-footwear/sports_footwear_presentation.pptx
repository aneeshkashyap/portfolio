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Medium"/>
      <p:regular r:id="rId17"/>
    </p:embeddedFont>
    <p:embeddedFont>
      <p:font typeface="Instrument Sans Medium"/>
      <p:regular r:id="rId18"/>
    </p:embeddedFont>
    <p:embeddedFont>
      <p:font typeface="Instrument Sans Medium"/>
      <p:regular r:id="rId19"/>
    </p:embeddedFont>
    <p:embeddedFont>
      <p:font typeface="Instrument Sans Medium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8256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Global Sports Footwear Sales Analysis (2018–2026)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4027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 Period: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2018–2026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75833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Objective: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 report provides an in-depth analysis of global sports footwear sales, focusing on performance trends, demand patterns, and key customer behaviors to inform strategic decision-making.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43451" y="459700"/>
            <a:ext cx="3240286" cy="405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 Overview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43451" y="3535204"/>
            <a:ext cx="5702498" cy="325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comprehensive analysis is derived from an extensive dataset, ensuring robust insights into the global sports footwear market.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799" y="1059061"/>
            <a:ext cx="2924651" cy="389953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69799" y="5041821"/>
            <a:ext cx="2924651" cy="1295638"/>
          </a:xfrm>
          <a:prstGeom prst="roundRect">
            <a:avLst>
              <a:gd name="adj" fmla="val 5646"/>
            </a:avLst>
          </a:prstGeom>
          <a:solidFill>
            <a:srgbClr val="1F1F1F"/>
          </a:solidFill>
          <a:ln w="15240">
            <a:solidFill>
              <a:srgbClr val="5757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854559" y="5041821"/>
            <a:ext cx="60960" cy="1295638"/>
          </a:xfrm>
          <a:prstGeom prst="roundRect">
            <a:avLst>
              <a:gd name="adj" fmla="val 31894"/>
            </a:avLst>
          </a:prstGeom>
          <a:solidFill>
            <a:srgbClr val="F5F547"/>
          </a:solidFill>
          <a:ln/>
        </p:spPr>
      </p:sp>
      <p:sp>
        <p:nvSpPr>
          <p:cNvPr id="7" name="Text 4"/>
          <p:cNvSpPr/>
          <p:nvPr/>
        </p:nvSpPr>
        <p:spPr>
          <a:xfrm>
            <a:off x="9060299" y="5186601"/>
            <a:ext cx="1620083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Metrics Tracked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060299" y="5463183"/>
            <a:ext cx="2589371" cy="651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Revenue</a:t>
            </a:r>
            <a:endParaRPr lang="en-US" sz="100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Units Sold</a:t>
            </a:r>
            <a:endParaRPr lang="en-US" sz="100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Selling Price (ASP)</a:t>
            </a:r>
            <a:endParaRPr lang="en-US" sz="100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Ratings &amp; Reviews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43451" y="6426197"/>
            <a:ext cx="4434721" cy="1265992"/>
          </a:xfrm>
          <a:prstGeom prst="roundRect">
            <a:avLst>
              <a:gd name="adj" fmla="val 5778"/>
            </a:avLst>
          </a:prstGeom>
          <a:solidFill>
            <a:srgbClr val="1F1F1F"/>
          </a:solidFill>
          <a:ln w="15240">
            <a:solidFill>
              <a:srgbClr val="5757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28211" y="6426197"/>
            <a:ext cx="60960" cy="1265992"/>
          </a:xfrm>
          <a:prstGeom prst="roundRect">
            <a:avLst>
              <a:gd name="adj" fmla="val 31894"/>
            </a:avLst>
          </a:prstGeom>
          <a:solidFill>
            <a:srgbClr val="F5F547"/>
          </a:solidFill>
          <a:ln/>
        </p:spPr>
      </p:sp>
      <p:sp>
        <p:nvSpPr>
          <p:cNvPr id="11" name="Text 8"/>
          <p:cNvSpPr/>
          <p:nvPr/>
        </p:nvSpPr>
        <p:spPr>
          <a:xfrm>
            <a:off x="3033951" y="6570977"/>
            <a:ext cx="1620083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Number of Records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033951" y="6817912"/>
            <a:ext cx="4099441" cy="16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 5 million individual sales transactions.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52228" y="6426197"/>
            <a:ext cx="4434721" cy="1265992"/>
          </a:xfrm>
          <a:prstGeom prst="roundRect">
            <a:avLst>
              <a:gd name="adj" fmla="val 5778"/>
            </a:avLst>
          </a:prstGeom>
          <a:solidFill>
            <a:srgbClr val="1F1F1F"/>
          </a:solidFill>
          <a:ln w="15240">
            <a:solidFill>
              <a:srgbClr val="57575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36988" y="6426197"/>
            <a:ext cx="60960" cy="1265992"/>
          </a:xfrm>
          <a:prstGeom prst="roundRect">
            <a:avLst>
              <a:gd name="adj" fmla="val 31894"/>
            </a:avLst>
          </a:prstGeom>
          <a:solidFill>
            <a:srgbClr val="F5F547"/>
          </a:solidFill>
          <a:ln/>
        </p:spPr>
      </p:sp>
      <p:sp>
        <p:nvSpPr>
          <p:cNvPr id="15" name="Text 12"/>
          <p:cNvSpPr/>
          <p:nvPr/>
        </p:nvSpPr>
        <p:spPr>
          <a:xfrm>
            <a:off x="7542728" y="6570977"/>
            <a:ext cx="1620083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Dimensions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542728" y="6817912"/>
            <a:ext cx="4099441" cy="651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(e.g., Nike, Adidas, Puma)</a:t>
            </a:r>
            <a:endParaRPr lang="en-US" sz="100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Category (e.g., Running, Lifestyle, Training)</a:t>
            </a:r>
            <a:endParaRPr lang="en-US" sz="100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Geographic Country &amp; Region</a:t>
            </a:r>
            <a:endParaRPr lang="en-US" sz="100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Channel (e.g., Online, Retail)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0181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Overall Revenue &amp; Sales Performance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072884"/>
            <a:ext cx="36364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$250B+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441400" y="4104680"/>
            <a:ext cx="33139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Total Revenue Generated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4595098"/>
            <a:ext cx="36364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Across all brands and categories over the analysis period.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00084" y="3072884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1.8B+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10600730" y="41046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Total Units Sold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0084" y="4595098"/>
            <a:ext cx="36365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Indicating strong consumer demand globally.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80190" y="557605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sports footwear market has demonstrated consistent growth, driven by increasing participation in athletic activities and a global trend towards active lifestyles. Despite some market fluctuations, the overall trajectory remains positive.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669" y="641628"/>
            <a:ext cx="6694765" cy="699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Revenue Trend Over Time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3669" y="1783437"/>
            <a:ext cx="13063061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Year-on-year revenue growth illustrates the dynamic nature of the sports footwear market.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669" y="2664023"/>
            <a:ext cx="8299728" cy="46478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37276" y="2586990"/>
            <a:ext cx="4216956" cy="2491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exhibited a stable upward trend, with a dip in 2020 reflecting global economic challenges. However, the market quickly rebounded, demonstrating resilience and sustained consumer demand, with an anticipated continued increase through 2026.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9637276" y="5327571"/>
            <a:ext cx="4216956" cy="2011799"/>
          </a:xfrm>
          <a:prstGeom prst="roundRect">
            <a:avLst>
              <a:gd name="adj" fmla="val 1670"/>
            </a:avLst>
          </a:prstGeom>
          <a:solidFill>
            <a:srgbClr val="49490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113" y="5670590"/>
            <a:ext cx="279797" cy="2238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64748" y="5604510"/>
            <a:ext cx="3265646" cy="1423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projected growth from 2024-2026 is based on current market trends and forecasted consumer spending.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6240"/>
            <a:ext cx="70050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Product Category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0864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the contribution of each product category is crucial for strategic planning and resource allocation.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126700"/>
            <a:ext cx="1501854" cy="15018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22458" y="3126700"/>
            <a:ext cx="24299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Lifestyle Footwear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522458" y="3617119"/>
            <a:ext cx="2429947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Leading the market with the highest revenue and units sold, indicating strong casual adoption and fashion influence. This segment thrives on brand appeal and aesthetic design.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126700"/>
            <a:ext cx="1501854" cy="15018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64561" y="3126700"/>
            <a:ext cx="24299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Training Footwear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964561" y="3617119"/>
            <a:ext cx="2429947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robust performer, driven by increasing gym memberships and fitness enthusiasm. Performance features and durability are key drivers here.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126700"/>
            <a:ext cx="1501854" cy="15018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06664" y="3126700"/>
            <a:ext cx="24299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Running Footwear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1406664" y="3617119"/>
            <a:ext cx="24299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consistent and essential segment, continually innovated with new technologies for comfort and performance.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442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0331" y="3460075"/>
            <a:ext cx="10031135" cy="661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Brand Performance &amp; Market Positioning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740331" y="4416981"/>
            <a:ext cx="13149739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deep dive into brand performance reveals varying strategies in pricing and volume.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40331" y="4965978"/>
            <a:ext cx="6476167" cy="1898690"/>
          </a:xfrm>
          <a:prstGeom prst="roundRect">
            <a:avLst>
              <a:gd name="adj" fmla="val 1671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4646" y="5200293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Premium Brands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74646" y="5649158"/>
            <a:ext cx="6007537" cy="9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higher Average Selling Prices (ASP) with a strong emphasis on innovation, quality, and brand prestige, commanding a significant market share in value.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13784" y="4965978"/>
            <a:ext cx="6476286" cy="1898690"/>
          </a:xfrm>
          <a:prstGeom prst="roundRect">
            <a:avLst>
              <a:gd name="adj" fmla="val 1671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48099" y="5200293"/>
            <a:ext cx="279701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Volume-Driven Brands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7648099" y="5649158"/>
            <a:ext cx="6007656" cy="9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Prioritise competitive pricing and broad distribution to capture a larger share of units sold, appealing to a wider customer base.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40331" y="7086600"/>
            <a:ext cx="13149739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each brand's strategic positioning helps in identifying growth opportunities and competitive threats.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0230" y="531733"/>
            <a:ext cx="6702981" cy="581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Pricing &amp; Demand Relationship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230" y="1514832"/>
            <a:ext cx="8193286" cy="464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45479" y="3429357"/>
            <a:ext cx="4202073" cy="813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analysis confirms a clear relationship between Average Selling Price (ASP) and Units Sold: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001" y="6507182"/>
            <a:ext cx="279321" cy="2793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95425" y="6501527"/>
            <a:ext cx="2385417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Volume-Driven Model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495425" y="6884075"/>
            <a:ext cx="5724168" cy="813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global sports footwear market largely operates on a volume-driven revenue model. Brands tend to achieve higher overall revenue by selling more units, often at competitive price points.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0459" y="6507182"/>
            <a:ext cx="279321" cy="27932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15883" y="6501527"/>
            <a:ext cx="2327791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Price Elasticity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8015883" y="6884075"/>
            <a:ext cx="5724168" cy="813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Significant price increases generally lead to a noticeable decrease in units sold, indicating a degree of price sensitivity among consumers.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63378" y="589121"/>
            <a:ext cx="3896797" cy="45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Sales Channel Analysis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2263378" y="1235631"/>
            <a:ext cx="10103525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evolution of sales channels is redefining how consumers purchase sports footwear.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157889" y="1534716"/>
            <a:ext cx="6653212" cy="5806559"/>
          </a:xfrm>
          <a:prstGeom prst="roundRect">
            <a:avLst>
              <a:gd name="adj" fmla="val 378"/>
            </a:avLst>
          </a:prstGeom>
          <a:solidFill>
            <a:srgbClr val="F5F547"/>
          </a:solidFill>
          <a:ln/>
        </p:spPr>
      </p:sp>
      <p:sp>
        <p:nvSpPr>
          <p:cNvPr id="5" name="Text 3"/>
          <p:cNvSpPr/>
          <p:nvPr/>
        </p:nvSpPr>
        <p:spPr>
          <a:xfrm>
            <a:off x="2304217" y="2222421"/>
            <a:ext cx="1830348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Online Contribution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04217" y="2545556"/>
            <a:ext cx="6360557" cy="385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E-commerce channels have shown accelerated growth, becoming a dominant force due to convenience, wider product selection, and personalized shopping experiences.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217" y="3037403"/>
            <a:ext cx="6360557" cy="36042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070419" y="1629132"/>
            <a:ext cx="1830348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Retail Importance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070419" y="1952268"/>
            <a:ext cx="3303984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Physical retail stores remain crucial for customer experience, product trials, and immediate gratification, especially for new releases and premium products.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419" y="2829639"/>
            <a:ext cx="3303984" cy="44053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63378" y="7447598"/>
            <a:ext cx="10103525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effective omnichannel strategy that integrates both online and offline experiences is vital for maximizing reach and customer engagement.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429" y="665083"/>
            <a:ext cx="8371880" cy="681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Segmentation Insights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63429" y="1766292"/>
            <a:ext cx="13103543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customer demographics and preferences is key to targeted marketing and product development.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3429" y="2453640"/>
            <a:ext cx="3499247" cy="272653"/>
          </a:xfrm>
          <a:prstGeom prst="roundRect">
            <a:avLst>
              <a:gd name="adj" fmla="val 12001"/>
            </a:avLst>
          </a:prstGeom>
          <a:solidFill>
            <a:srgbClr val="3E3E3E"/>
          </a:solidFill>
          <a:ln/>
        </p:spPr>
      </p:sp>
      <p:sp>
        <p:nvSpPr>
          <p:cNvPr id="5" name="Shape 3"/>
          <p:cNvSpPr/>
          <p:nvPr/>
        </p:nvSpPr>
        <p:spPr>
          <a:xfrm>
            <a:off x="763429" y="2453640"/>
            <a:ext cx="1574602" cy="272653"/>
          </a:xfrm>
          <a:prstGeom prst="roundRect">
            <a:avLst>
              <a:gd name="adj" fmla="val 12001"/>
            </a:avLst>
          </a:prstGeom>
          <a:solidFill>
            <a:srgbClr val="F5F547"/>
          </a:solidFill>
          <a:ln/>
        </p:spPr>
      </p:sp>
      <p:sp>
        <p:nvSpPr>
          <p:cNvPr id="6" name="Text 4"/>
          <p:cNvSpPr/>
          <p:nvPr/>
        </p:nvSpPr>
        <p:spPr>
          <a:xfrm>
            <a:off x="4426268" y="2453640"/>
            <a:ext cx="530185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45%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3429" y="2992636"/>
            <a:ext cx="27267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Mid-Income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63429" y="3459242"/>
            <a:ext cx="4193024" cy="102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Represents the largest segment of revenue, emphasizing the broad appeal of sports footwear.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218628" y="2453640"/>
            <a:ext cx="3474482" cy="272653"/>
          </a:xfrm>
          <a:prstGeom prst="roundRect">
            <a:avLst>
              <a:gd name="adj" fmla="val 12001"/>
            </a:avLst>
          </a:prstGeom>
          <a:solidFill>
            <a:srgbClr val="3E3E3E"/>
          </a:solidFill>
          <a:ln/>
        </p:spPr>
      </p:sp>
      <p:sp>
        <p:nvSpPr>
          <p:cNvPr id="10" name="Shape 8"/>
          <p:cNvSpPr/>
          <p:nvPr/>
        </p:nvSpPr>
        <p:spPr>
          <a:xfrm>
            <a:off x="5218628" y="2453640"/>
            <a:ext cx="1042273" cy="272653"/>
          </a:xfrm>
          <a:prstGeom prst="roundRect">
            <a:avLst>
              <a:gd name="adj" fmla="val 12001"/>
            </a:avLst>
          </a:prstGeom>
          <a:solidFill>
            <a:srgbClr val="F5F547"/>
          </a:solidFill>
          <a:ln/>
        </p:spPr>
      </p:sp>
      <p:sp>
        <p:nvSpPr>
          <p:cNvPr id="11" name="Text 9"/>
          <p:cNvSpPr/>
          <p:nvPr/>
        </p:nvSpPr>
        <p:spPr>
          <a:xfrm>
            <a:off x="8856702" y="2453640"/>
            <a:ext cx="554950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30%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218628" y="2992636"/>
            <a:ext cx="27267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High-Income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218628" y="3459242"/>
            <a:ext cx="4193024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Contributes significantly, often investing in premium and specialized footwear.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73828" y="2453640"/>
            <a:ext cx="3514963" cy="272653"/>
          </a:xfrm>
          <a:prstGeom prst="roundRect">
            <a:avLst>
              <a:gd name="adj" fmla="val 12001"/>
            </a:avLst>
          </a:prstGeom>
          <a:solidFill>
            <a:srgbClr val="3E3E3E"/>
          </a:solidFill>
          <a:ln/>
        </p:spPr>
      </p:sp>
      <p:sp>
        <p:nvSpPr>
          <p:cNvPr id="15" name="Shape 13"/>
          <p:cNvSpPr/>
          <p:nvPr/>
        </p:nvSpPr>
        <p:spPr>
          <a:xfrm>
            <a:off x="9673828" y="2453640"/>
            <a:ext cx="878681" cy="272653"/>
          </a:xfrm>
          <a:prstGeom prst="roundRect">
            <a:avLst>
              <a:gd name="adj" fmla="val 12001"/>
            </a:avLst>
          </a:prstGeom>
          <a:solidFill>
            <a:srgbClr val="F5F547"/>
          </a:solidFill>
          <a:ln/>
        </p:spPr>
      </p:sp>
      <p:sp>
        <p:nvSpPr>
          <p:cNvPr id="16" name="Text 14"/>
          <p:cNvSpPr/>
          <p:nvPr/>
        </p:nvSpPr>
        <p:spPr>
          <a:xfrm>
            <a:off x="13352383" y="2453640"/>
            <a:ext cx="514588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25%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673828" y="2992636"/>
            <a:ext cx="27267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Low-Income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673828" y="3459242"/>
            <a:ext cx="4193143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substantial segment, often seeking value and everyday wear footwear.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63429" y="4722138"/>
            <a:ext cx="13103543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satisfaction trends indicate that products with higher average ratings correlate strongly with repeat purchases and brand loyalty.</a:t>
            </a:r>
            <a:endParaRPr lang="en-US" sz="17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429" y="5642729"/>
            <a:ext cx="368022" cy="327184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982" y="5642729"/>
            <a:ext cx="368022" cy="327184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534" y="5642729"/>
            <a:ext cx="368022" cy="327184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1087" y="5642729"/>
            <a:ext cx="368022" cy="327184"/>
          </a:xfrm>
          <a:prstGeom prst="rect">
            <a:avLst/>
          </a:prstGeom>
        </p:spPr>
      </p:pic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3640" y="5642729"/>
            <a:ext cx="368022" cy="327184"/>
          </a:xfrm>
          <a:prstGeom prst="rect">
            <a:avLst/>
          </a:prstGeom>
        </p:spPr>
      </p:pic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3640" y="5642729"/>
            <a:ext cx="368022" cy="327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985254" y="5694997"/>
            <a:ext cx="372904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4.5</a:t>
            </a:r>
            <a:endParaRPr lang="en-US" sz="2100" dirty="0"/>
          </a:p>
        </p:txBody>
      </p:sp>
      <p:sp>
        <p:nvSpPr>
          <p:cNvPr id="27" name="Text 19"/>
          <p:cNvSpPr/>
          <p:nvPr/>
        </p:nvSpPr>
        <p:spPr>
          <a:xfrm>
            <a:off x="763429" y="6177201"/>
            <a:ext cx="3244572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Customer Rating</a:t>
            </a:r>
            <a:endParaRPr lang="en-US" sz="2100" dirty="0"/>
          </a:p>
        </p:txBody>
      </p:sp>
      <p:sp>
        <p:nvSpPr>
          <p:cNvPr id="28" name="Text 20"/>
          <p:cNvSpPr/>
          <p:nvPr/>
        </p:nvSpPr>
        <p:spPr>
          <a:xfrm>
            <a:off x="763429" y="6643807"/>
            <a:ext cx="13103543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Across all product categories and brands, highlighting overall product quality.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763429" y="7222093"/>
            <a:ext cx="13103543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Positive reviews often cite comfort, durability, and stylish design as primary motivators.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22645" y="1486138"/>
            <a:ext cx="6197560" cy="389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Insights &amp; Business Recommendations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922645" y="1978462"/>
            <a:ext cx="8271510" cy="1082040"/>
          </a:xfrm>
          <a:prstGeom prst="roundRect">
            <a:avLst>
              <a:gd name="adj" fmla="val 1728"/>
            </a:avLst>
          </a:prstGeom>
          <a:solidFill>
            <a:srgbClr val="3E3E3E"/>
          </a:solidFill>
          <a:ln/>
        </p:spPr>
      </p:sp>
      <p:sp>
        <p:nvSpPr>
          <p:cNvPr id="5" name="Shape 2"/>
          <p:cNvSpPr/>
          <p:nvPr/>
        </p:nvSpPr>
        <p:spPr>
          <a:xfrm>
            <a:off x="6047303" y="2103120"/>
            <a:ext cx="373975" cy="373975"/>
          </a:xfrm>
          <a:prstGeom prst="roundRect">
            <a:avLst>
              <a:gd name="adj" fmla="val 24448387"/>
            </a:avLst>
          </a:prstGeom>
          <a:solidFill>
            <a:srgbClr val="F5F54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0173" y="2205871"/>
            <a:ext cx="168235" cy="1682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47303" y="2545556"/>
            <a:ext cx="1847017" cy="194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Sustained Market Growth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47303" y="2781419"/>
            <a:ext cx="8022193" cy="15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sports footwear market is resilient and expanding. Focus on innovation to maintain competitive edge.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922645" y="3128963"/>
            <a:ext cx="8271510" cy="1082040"/>
          </a:xfrm>
          <a:prstGeom prst="roundRect">
            <a:avLst>
              <a:gd name="adj" fmla="val 1728"/>
            </a:avLst>
          </a:prstGeom>
          <a:solidFill>
            <a:srgbClr val="3E3E3E"/>
          </a:solidFill>
          <a:ln/>
        </p:spPr>
      </p:sp>
      <p:sp>
        <p:nvSpPr>
          <p:cNvPr id="10" name="Shape 6"/>
          <p:cNvSpPr/>
          <p:nvPr/>
        </p:nvSpPr>
        <p:spPr>
          <a:xfrm>
            <a:off x="6047303" y="3253621"/>
            <a:ext cx="373975" cy="373975"/>
          </a:xfrm>
          <a:prstGeom prst="roundRect">
            <a:avLst>
              <a:gd name="adj" fmla="val 24448387"/>
            </a:avLst>
          </a:prstGeom>
          <a:solidFill>
            <a:srgbClr val="F5F54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50173" y="3356372"/>
            <a:ext cx="168235" cy="1682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7303" y="3696057"/>
            <a:ext cx="1558290" cy="194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Pricing Strategy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047303" y="3931920"/>
            <a:ext cx="8022193" cy="15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Leverage a volume-driven model while strategically positioning premium offerings for higher margins.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922645" y="4279463"/>
            <a:ext cx="8271510" cy="1082040"/>
          </a:xfrm>
          <a:prstGeom prst="roundRect">
            <a:avLst>
              <a:gd name="adj" fmla="val 1728"/>
            </a:avLst>
          </a:prstGeom>
          <a:solidFill>
            <a:srgbClr val="3E3E3E"/>
          </a:solidFill>
          <a:ln/>
        </p:spPr>
      </p:sp>
      <p:sp>
        <p:nvSpPr>
          <p:cNvPr id="15" name="Shape 10"/>
          <p:cNvSpPr/>
          <p:nvPr/>
        </p:nvSpPr>
        <p:spPr>
          <a:xfrm>
            <a:off x="6047303" y="4404122"/>
            <a:ext cx="373975" cy="373975"/>
          </a:xfrm>
          <a:prstGeom prst="roundRect">
            <a:avLst>
              <a:gd name="adj" fmla="val 24448387"/>
            </a:avLst>
          </a:prstGeom>
          <a:solidFill>
            <a:srgbClr val="F5F54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50173" y="4506873"/>
            <a:ext cx="168235" cy="16823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47303" y="4846558"/>
            <a:ext cx="1558290" cy="194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Omnichannel Focus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047303" y="5082421"/>
            <a:ext cx="8022193" cy="15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 in seamless online-to-offline experiences to cater to evolving consumer purchasing habits.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922645" y="5429964"/>
            <a:ext cx="8271510" cy="1082040"/>
          </a:xfrm>
          <a:prstGeom prst="roundRect">
            <a:avLst>
              <a:gd name="adj" fmla="val 1728"/>
            </a:avLst>
          </a:prstGeom>
          <a:solidFill>
            <a:srgbClr val="3E3E3E"/>
          </a:solidFill>
          <a:ln/>
        </p:spPr>
      </p:sp>
      <p:sp>
        <p:nvSpPr>
          <p:cNvPr id="20" name="Shape 14"/>
          <p:cNvSpPr/>
          <p:nvPr/>
        </p:nvSpPr>
        <p:spPr>
          <a:xfrm>
            <a:off x="6047303" y="5554623"/>
            <a:ext cx="373975" cy="373975"/>
          </a:xfrm>
          <a:prstGeom prst="roundRect">
            <a:avLst>
              <a:gd name="adj" fmla="val 24448387"/>
            </a:avLst>
          </a:prstGeom>
          <a:solidFill>
            <a:srgbClr val="F5F54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50173" y="5657374"/>
            <a:ext cx="168235" cy="16823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047303" y="5997059"/>
            <a:ext cx="1558290" cy="194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Customer-Centricity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047303" y="6232922"/>
            <a:ext cx="8022193" cy="15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Tailor product development and marketing efforts based on detailed income-level insights and satisfaction trends.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5922645" y="6589038"/>
            <a:ext cx="8271510" cy="15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recommendations aim to capitalize on market opportunities and drive sustainable growth in the global sports footwear sector.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2026-02-01T09:22:34Z</dcterms:created>
  <dcterms:modified xsi:type="dcterms:W3CDTF">2026-02-01T09:22:34Z</dcterms:modified>
</cp:coreProperties>
</file>