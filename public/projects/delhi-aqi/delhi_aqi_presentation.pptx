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Medium"/>
      <p:regular r:id="rId17"/>
    </p:embeddedFont>
    <p:embeddedFont>
      <p:font typeface="Instrument Sans Medium"/>
      <p:regular r:id="rId18"/>
    </p:embeddedFon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Delhi Weather and Air Quality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comprehensive data-driven study examining hourly weather patterns and air pollution dynamics across Delhi in 2025, supporting evidence-based urban sustainability policy development.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17665"/>
            <a:ext cx="1968937" cy="426244"/>
          </a:xfrm>
          <a:prstGeom prst="roundRect">
            <a:avLst>
              <a:gd name="adj" fmla="val 6386"/>
            </a:avLst>
          </a:prstGeom>
          <a:solidFill>
            <a:srgbClr val="494904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385649"/>
            <a:ext cx="169676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834634"/>
            <a:ext cx="71807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Collection Framework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630436" y="2883575"/>
            <a:ext cx="5891570" cy="4028361"/>
          </a:xfrm>
          <a:prstGeom prst="roundRect">
            <a:avLst>
              <a:gd name="adj" fmla="val 845"/>
            </a:avLst>
          </a:prstGeom>
          <a:solidFill>
            <a:srgbClr val="F5F547"/>
          </a:solidFill>
          <a:ln/>
        </p:spPr>
      </p:sp>
      <p:sp>
        <p:nvSpPr>
          <p:cNvPr id="6" name="Text 4"/>
          <p:cNvSpPr/>
          <p:nvPr/>
        </p:nvSpPr>
        <p:spPr>
          <a:xfrm>
            <a:off x="857250" y="3110389"/>
            <a:ext cx="29533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 Specifications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3691533"/>
            <a:ext cx="54379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Temporal coverage: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January–December 2025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57250" y="4258508"/>
            <a:ext cx="54379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Resolution: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Hourly measurements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57250" y="4825484"/>
            <a:ext cx="54379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Monitoring stations: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Multiple locations across Delhi NCR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57250" y="5755362"/>
            <a:ext cx="54379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observations: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8,760 hourly records per variable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919674" y="3110389"/>
            <a:ext cx="31289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Variables Measured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19674" y="3691533"/>
            <a:ext cx="6924437" cy="290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Meteorological: temperature (°C), humidity (%), atmospheric pressure (hPa), wind speed (m/s)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Air quality indicators: AQI index, PM2.5, PM10 concentrations (µg/m³)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Gaseous pollutants: carbon monoxide (CO), nitrogen dioxide (NO₂) levels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Geospatial: latitude and longitude coordinates for spatial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03233"/>
            <a:ext cx="1975128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5F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178838"/>
            <a:ext cx="16877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WEATHER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35443"/>
            <a:ext cx="110838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Meteorological Patterns Throughout 2025</a:t>
            </a:r>
            <a:endParaRPr lang="en-US" sz="4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84383"/>
            <a:ext cx="2411968" cy="14906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4585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Temperature Trends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948952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Delhi experienced typical seasonal variation with summer peaks reaching 45°C (May–June) and winter lows dropping to 4°C (December–January). Average annual temperature: 26.3°C.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684383"/>
            <a:ext cx="2411968" cy="14906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44585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Humidity Dynamics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4948952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Relative humidity ranged from 15% during dry summer months to 95% during monsoon season (July–September). Monsoon period showed sustained high humidity above 80%.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684383"/>
            <a:ext cx="2411968" cy="14906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4458533"/>
            <a:ext cx="29960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Wind Speed Variability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4948952"/>
            <a:ext cx="415861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wind speeds: 2.8 m/s. Pre-monsoon months exhibited higher wind speeds (4–6 m/s), whilst winter months showed stagnant conditions (&lt;2 m/s), contributing to pollutant accumulation.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25793"/>
            <a:ext cx="2174558" cy="426244"/>
          </a:xfrm>
          <a:prstGeom prst="roundRect">
            <a:avLst>
              <a:gd name="adj" fmla="val 6386"/>
            </a:avLst>
          </a:prstGeom>
          <a:solidFill>
            <a:srgbClr val="4949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748189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693777"/>
            <a:ext cx="163020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AIR QUALITY INDEX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142762"/>
            <a:ext cx="97021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AQI Distribution and Pollution Events</a:t>
            </a:r>
            <a:endParaRPr lang="en-US" sz="4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46853"/>
            <a:ext cx="6924437" cy="324111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93790" y="571845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94904"/>
          </a:solidFill>
          <a:ln/>
        </p:spPr>
      </p:sp>
      <p:sp>
        <p:nvSpPr>
          <p:cNvPr id="8" name="Text 4"/>
          <p:cNvSpPr/>
          <p:nvPr/>
        </p:nvSpPr>
        <p:spPr>
          <a:xfrm>
            <a:off x="1081564" y="5718453"/>
            <a:ext cx="5762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Good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2562939" y="571845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898907"/>
          </a:solidFill>
          <a:ln/>
        </p:spPr>
      </p:sp>
      <p:sp>
        <p:nvSpPr>
          <p:cNvPr id="10" name="Text 6"/>
          <p:cNvSpPr/>
          <p:nvPr/>
        </p:nvSpPr>
        <p:spPr>
          <a:xfrm>
            <a:off x="2850713" y="5718453"/>
            <a:ext cx="12306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Satisfactory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4332208" y="571845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ACA0B"/>
          </a:solidFill>
          <a:ln/>
        </p:spPr>
      </p:sp>
      <p:sp>
        <p:nvSpPr>
          <p:cNvPr id="12" name="Text 8"/>
          <p:cNvSpPr/>
          <p:nvPr/>
        </p:nvSpPr>
        <p:spPr>
          <a:xfrm>
            <a:off x="4619982" y="5718453"/>
            <a:ext cx="10329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Moderate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6101358" y="571845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F3F325"/>
          </a:solidFill>
          <a:ln/>
        </p:spPr>
      </p:sp>
      <p:sp>
        <p:nvSpPr>
          <p:cNvPr id="14" name="Text 10"/>
          <p:cNvSpPr/>
          <p:nvPr/>
        </p:nvSpPr>
        <p:spPr>
          <a:xfrm>
            <a:off x="6389132" y="5718453"/>
            <a:ext cx="50184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Poor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790" y="6097667"/>
            <a:ext cx="226814" cy="226814"/>
          </a:xfrm>
          <a:prstGeom prst="roundRect">
            <a:avLst>
              <a:gd name="adj" fmla="val 8063"/>
            </a:avLst>
          </a:prstGeom>
          <a:solidFill>
            <a:srgbClr val="F7F766"/>
          </a:solidFill>
          <a:ln/>
        </p:spPr>
      </p:sp>
      <p:sp>
        <p:nvSpPr>
          <p:cNvPr id="16" name="Text 12"/>
          <p:cNvSpPr/>
          <p:nvPr/>
        </p:nvSpPr>
        <p:spPr>
          <a:xfrm>
            <a:off x="1081564" y="6097667"/>
            <a:ext cx="102941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Very Poor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2562939" y="6097667"/>
            <a:ext cx="226814" cy="226814"/>
          </a:xfrm>
          <a:prstGeom prst="roundRect">
            <a:avLst>
              <a:gd name="adj" fmla="val 8063"/>
            </a:avLst>
          </a:prstGeom>
          <a:solidFill>
            <a:srgbClr val="FAFAA6"/>
          </a:solidFill>
          <a:ln/>
        </p:spPr>
      </p:sp>
      <p:sp>
        <p:nvSpPr>
          <p:cNvPr id="18" name="Text 14"/>
          <p:cNvSpPr/>
          <p:nvPr/>
        </p:nvSpPr>
        <p:spPr>
          <a:xfrm>
            <a:off x="2850713" y="6097667"/>
            <a:ext cx="7121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Severe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8279249" y="2418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Critical Findings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8279249" y="2999661"/>
            <a:ext cx="556486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Delhi's air quality remained predominantly unhealthy, with 55% of days registering 'Poor' or worse AQI levels. Annual average AQI: 187 (Poor category).</a:t>
            </a:r>
            <a:endParaRPr lang="en-US" sz="1750" dirty="0"/>
          </a:p>
        </p:txBody>
      </p:sp>
      <p:sp>
        <p:nvSpPr>
          <p:cNvPr id="21" name="Text 17"/>
          <p:cNvSpPr/>
          <p:nvPr/>
        </p:nvSpPr>
        <p:spPr>
          <a:xfrm>
            <a:off x="8279249" y="4655344"/>
            <a:ext cx="556486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Severe pollution episodes: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Concentrated during post-Diwali period (November) and winter months when AQI exceeded 400, triggering public health advisories.</a:t>
            </a:r>
            <a:endParaRPr lang="en-US" sz="1750" dirty="0"/>
          </a:p>
        </p:txBody>
      </p:sp>
      <p:sp>
        <p:nvSpPr>
          <p:cNvPr id="22" name="Text 18"/>
          <p:cNvSpPr/>
          <p:nvPr/>
        </p:nvSpPr>
        <p:spPr>
          <a:xfrm>
            <a:off x="8279249" y="6311027"/>
            <a:ext cx="55648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23% of days achieved 'Good' or 'Satisfactory' air quality, typically during monsoon months when rainfall provided natural cleansing.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223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160" y="3238976"/>
            <a:ext cx="10672524" cy="630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Particulate Matter: The Primary Health Threat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6160" y="4138732"/>
            <a:ext cx="4286369" cy="3374231"/>
          </a:xfrm>
          <a:prstGeom prst="roundRect">
            <a:avLst>
              <a:gd name="adj" fmla="val 897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907852" y="4340423"/>
            <a:ext cx="2605564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PM2.5 Concentrations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07852" y="4763333"/>
            <a:ext cx="3882985" cy="61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Annual average: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98 µg/m³ (nearly 20× WHO guideline of 5 µg/m³)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07852" y="5481042"/>
            <a:ext cx="3882985" cy="61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Peak levels: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450 µg/m³ during winter smog episodes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07852" y="6198751"/>
            <a:ext cx="3882985" cy="915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fine particles penetrate deep into lungs and bloodstream, causing cardiovascular and respiratory diseases.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171956" y="4138732"/>
            <a:ext cx="4286369" cy="3374231"/>
          </a:xfrm>
          <a:prstGeom prst="roundRect">
            <a:avLst>
              <a:gd name="adj" fmla="val 897"/>
            </a:avLst>
          </a:prstGeom>
          <a:solidFill>
            <a:srgbClr val="3E3E3E"/>
          </a:solidFill>
          <a:ln/>
        </p:spPr>
      </p:sp>
      <p:sp>
        <p:nvSpPr>
          <p:cNvPr id="10" name="Text 7"/>
          <p:cNvSpPr/>
          <p:nvPr/>
        </p:nvSpPr>
        <p:spPr>
          <a:xfrm>
            <a:off x="5373648" y="4340423"/>
            <a:ext cx="2522339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PM10 Patterns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373648" y="4763333"/>
            <a:ext cx="3882985" cy="61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Annual average: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156 µg/m³ (exceeding WHO guideline of 15 µg/m³)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373648" y="5481042"/>
            <a:ext cx="3882985" cy="61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Sources: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Construction dust, road traffic, and industrial emissions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373648" y="6198751"/>
            <a:ext cx="3882985" cy="915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Coarse particles cause respiratory irritation and aggravate existing lung conditions.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9637752" y="4138732"/>
            <a:ext cx="4286369" cy="3374231"/>
          </a:xfrm>
          <a:prstGeom prst="roundRect">
            <a:avLst>
              <a:gd name="adj" fmla="val 897"/>
            </a:avLst>
          </a:prstGeom>
          <a:solidFill>
            <a:srgbClr val="3E3E3E"/>
          </a:solidFill>
          <a:ln/>
        </p:spPr>
      </p:sp>
      <p:sp>
        <p:nvSpPr>
          <p:cNvPr id="15" name="Text 12"/>
          <p:cNvSpPr/>
          <p:nvPr/>
        </p:nvSpPr>
        <p:spPr>
          <a:xfrm>
            <a:off x="9839444" y="4340423"/>
            <a:ext cx="2522339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Health Implications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9839444" y="4763333"/>
            <a:ext cx="3882985" cy="1220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Chronic exposure to elevated PM levels correlates with increased hospital admissions for asthma, bronchitis, and heart attacks.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839444" y="6091118"/>
            <a:ext cx="3882985" cy="1220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Children and elderly populations face disproportionate health risks from sustained particulate matter exposure throughout the year.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18611" y="435769"/>
            <a:ext cx="1664851" cy="259913"/>
          </a:xfrm>
          <a:prstGeom prst="roundRect">
            <a:avLst>
              <a:gd name="adj" fmla="val 6821"/>
            </a:avLst>
          </a:prstGeom>
          <a:noFill/>
          <a:ln w="7620">
            <a:solidFill>
              <a:srgbClr val="F5F5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813" y="506611"/>
            <a:ext cx="118110" cy="1181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91978" y="487680"/>
            <a:ext cx="1295281" cy="156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GASEOUS POLLUTANTS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218611" y="734139"/>
            <a:ext cx="8007906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Carbon Monoxide and Nitrogen Dioxide Trends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2218611" y="1436251"/>
            <a:ext cx="1846540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 Emissions Profile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218611" y="1763197"/>
            <a:ext cx="4916448" cy="58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Carbon monoxide levels exhibited strong diurnal patterns, with morning peaks (7–9 AM) and evening spikes (6–9 PM) coinciding with rush-hour traffic congestion.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218611" y="2435185"/>
            <a:ext cx="4916448" cy="195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concentration: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1.8 mg/m³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218611" y="2716887"/>
            <a:ext cx="4916448" cy="390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Peak periods: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Winter mornings when temperature inversions trapped vehicular emissions near ground level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218611" y="3193733"/>
            <a:ext cx="4916448" cy="390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sources: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Incomplete combustion from vehicles, particularly older diesel engines and two-wheelers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962" y="1448276"/>
            <a:ext cx="4916448" cy="49164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218611" y="6655021"/>
            <a:ext cx="10193179" cy="26075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2218611" y="6789301"/>
            <a:ext cx="10193179" cy="1004411"/>
          </a:xfrm>
          <a:prstGeom prst="roundRect">
            <a:avLst>
              <a:gd name="adj" fmla="val 2206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381488" y="6952178"/>
            <a:ext cx="1846540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NO₂ Concentrations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381488" y="7240548"/>
            <a:ext cx="9867424" cy="390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Nitrogen dioxide levels: 45 µg/m³ annual average. Strong correlation with vehicular traffic density and industrial combustion activities, particularly in industrial zones of East and West Delhi.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4566" y="336233"/>
            <a:ext cx="5417939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Weather-Pollution Correlation Analysis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0852" y="835223"/>
            <a:ext cx="6708577" cy="41955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27006" y="2847211"/>
            <a:ext cx="1383088" cy="231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Pressure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623286" y="4620978"/>
            <a:ext cx="1383088" cy="231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Temperature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19952" y="2846309"/>
            <a:ext cx="1383089" cy="231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Humidity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23286" y="1013051"/>
            <a:ext cx="1383088" cy="231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Wind Speed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194566" y="5101471"/>
            <a:ext cx="8241268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Statistical analysis reveals significant meteorological influence on pollution dynamics. Wind speed demonstrates inverse correlation with AQI (r = -0.67), with winds above 4 m/s effectively dispersing pollutants.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807262" y="6239827"/>
            <a:ext cx="1468993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67%</a:t>
            </a:r>
            <a:endParaRPr lang="en-US" sz="2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051" y="5493425"/>
            <a:ext cx="1791533" cy="179153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5355" y="7377589"/>
            <a:ext cx="1492925" cy="186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Wind Speed Impact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194566" y="7601783"/>
            <a:ext cx="2694623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Negative correlation: higher winds reduce AQI by dispersing pollutants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580584" y="6239827"/>
            <a:ext cx="1468993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52%</a:t>
            </a:r>
            <a:endParaRPr lang="en-US" sz="23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374" y="5493425"/>
            <a:ext cx="1791533" cy="179153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68678" y="7377589"/>
            <a:ext cx="1492925" cy="186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Humidity Effect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967770" y="7601783"/>
            <a:ext cx="2694742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Moderate positive correlation: high humidity aids particle settling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9353788" y="6239827"/>
            <a:ext cx="1468993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78%</a:t>
            </a:r>
            <a:endParaRPr lang="en-US" sz="23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2578" y="5493425"/>
            <a:ext cx="1791533" cy="179153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08306" y="7377589"/>
            <a:ext cx="1560195" cy="186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Temperature Inversion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741093" y="7601783"/>
            <a:ext cx="2694623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Winter inversions trap pollutants, creating severe episodes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55157" y="483037"/>
            <a:ext cx="1615916" cy="304681"/>
          </a:xfrm>
          <a:prstGeom prst="roundRect">
            <a:avLst>
              <a:gd name="adj" fmla="val 6918"/>
            </a:avLst>
          </a:prstGeom>
          <a:solidFill>
            <a:srgbClr val="4949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0527" y="565071"/>
            <a:ext cx="140494" cy="1404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1268" y="535662"/>
            <a:ext cx="119443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SPATIAL ANALYSIS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55157" y="842010"/>
            <a:ext cx="6414492" cy="548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Pollution Hotspots Across Delhi</a:t>
            </a:r>
            <a:endParaRPr lang="en-US" sz="3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157" y="1747838"/>
            <a:ext cx="5845850" cy="58458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37013" y="1730812"/>
            <a:ext cx="2524363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Location-Based Findings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537013" y="2141220"/>
            <a:ext cx="5845850" cy="498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Industrial corridors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(East and West Delhi) recorded highest pollution levels, with AQI frequently exceeding 300.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537013" y="2762012"/>
            <a:ext cx="5845850" cy="498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Traffic intersections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near Connaught Place, ITO, and Anand Vihar showed elevated NO₂ and CO concentrations throughout the day.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537013" y="3382804"/>
            <a:ext cx="5845850" cy="498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Residential areas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South Delhi exhibited relatively lower but still unhealthy pollution levels (AQI: 150–200).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537013" y="4003596"/>
            <a:ext cx="5845850" cy="747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Green zones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near Central Ridge Forest showed 15–20% lower PM2.5 levels compared to urban centres, demonstrating natural filtration benefits.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834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325" y="3443288"/>
            <a:ext cx="9002554" cy="620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Critical Insights and Public Health Risks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95325" y="4325183"/>
            <a:ext cx="4297204" cy="2944535"/>
          </a:xfrm>
          <a:prstGeom prst="roundRect">
            <a:avLst>
              <a:gd name="adj" fmla="val 3726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2465" y="4325183"/>
            <a:ext cx="91440" cy="2944535"/>
          </a:xfrm>
          <a:prstGeom prst="roundRect">
            <a:avLst>
              <a:gd name="adj" fmla="val 32592"/>
            </a:avLst>
          </a:prstGeom>
          <a:solidFill>
            <a:srgbClr val="F5F547"/>
          </a:solidFill>
          <a:ln/>
        </p:spPr>
      </p:sp>
      <p:sp>
        <p:nvSpPr>
          <p:cNvPr id="6" name="Text 3"/>
          <p:cNvSpPr/>
          <p:nvPr/>
        </p:nvSpPr>
        <p:spPr>
          <a:xfrm>
            <a:off x="985361" y="4546640"/>
            <a:ext cx="3128486" cy="31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Persistent Air Quality Crisis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85361" y="4961334"/>
            <a:ext cx="3785711" cy="149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Delhi experienced hazardous air quality for 55% of the year, with particulate matter levels consistently exceeding safe thresholds by factors of 10–20, creating chronic public health emergency.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166479" y="4325183"/>
            <a:ext cx="4297323" cy="2944535"/>
          </a:xfrm>
          <a:prstGeom prst="roundRect">
            <a:avLst>
              <a:gd name="adj" fmla="val 3726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43619" y="4325183"/>
            <a:ext cx="91440" cy="2944535"/>
          </a:xfrm>
          <a:prstGeom prst="roundRect">
            <a:avLst>
              <a:gd name="adj" fmla="val 32592"/>
            </a:avLst>
          </a:prstGeom>
          <a:solidFill>
            <a:srgbClr val="F5F547"/>
          </a:solidFill>
          <a:ln/>
        </p:spPr>
      </p:sp>
      <p:sp>
        <p:nvSpPr>
          <p:cNvPr id="10" name="Text 7"/>
          <p:cNvSpPr/>
          <p:nvPr/>
        </p:nvSpPr>
        <p:spPr>
          <a:xfrm>
            <a:off x="5456515" y="4546640"/>
            <a:ext cx="2554724" cy="31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Seasonal Vulnerability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456515" y="4961334"/>
            <a:ext cx="3785830" cy="208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Winter months (November–February) present extreme risk due to meteorological conditions favouring pollutant accumulation: low temperatures, calm winds, and atmospheric inversions trap emissions near ground level.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9637752" y="4325183"/>
            <a:ext cx="4297204" cy="2944535"/>
          </a:xfrm>
          <a:prstGeom prst="roundRect">
            <a:avLst>
              <a:gd name="adj" fmla="val 3726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14892" y="4325183"/>
            <a:ext cx="91440" cy="2944535"/>
          </a:xfrm>
          <a:prstGeom prst="roundRect">
            <a:avLst>
              <a:gd name="adj" fmla="val 32592"/>
            </a:avLst>
          </a:prstGeom>
          <a:solidFill>
            <a:srgbClr val="F5F547"/>
          </a:solidFill>
          <a:ln/>
        </p:spPr>
      </p:sp>
      <p:sp>
        <p:nvSpPr>
          <p:cNvPr id="14" name="Text 11"/>
          <p:cNvSpPr/>
          <p:nvPr/>
        </p:nvSpPr>
        <p:spPr>
          <a:xfrm>
            <a:off x="9927788" y="4546640"/>
            <a:ext cx="3693438" cy="31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Vehicular Emissions Dominance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927788" y="4961334"/>
            <a:ext cx="3785711" cy="178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Traffic-related pollutants (CO, NO₂) show strong temporal patterns aligned with commuting hours, indicating that transportation sector remains primary contributor requiring urgent intervention and policy reform.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80805" y="991195"/>
            <a:ext cx="2389227" cy="277535"/>
          </a:xfrm>
          <a:prstGeom prst="roundRect">
            <a:avLst>
              <a:gd name="adj" fmla="val 7061"/>
            </a:avLst>
          </a:prstGeom>
          <a:solidFill>
            <a:srgbClr val="4949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8794" y="1064657"/>
            <a:ext cx="130612" cy="1306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74652" y="1040130"/>
            <a:ext cx="1997393" cy="179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RECOMMENDATIONS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680805" y="1315760"/>
            <a:ext cx="8380571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Policy Framework for Sustainable Air Quality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925717" y="2410658"/>
            <a:ext cx="5330547" cy="163235"/>
          </a:xfrm>
          <a:prstGeom prst="roundRect">
            <a:avLst>
              <a:gd name="adj" fmla="val 15007"/>
            </a:avLst>
          </a:prstGeom>
          <a:solidFill>
            <a:srgbClr val="3E3E3E"/>
          </a:solidFill>
          <a:ln/>
        </p:spPr>
      </p:sp>
      <p:sp>
        <p:nvSpPr>
          <p:cNvPr id="7" name="Shape 4"/>
          <p:cNvSpPr/>
          <p:nvPr/>
        </p:nvSpPr>
        <p:spPr>
          <a:xfrm>
            <a:off x="1680805" y="2247245"/>
            <a:ext cx="489942" cy="489942"/>
          </a:xfrm>
          <a:prstGeom prst="roundRect">
            <a:avLst>
              <a:gd name="adj" fmla="val 93317"/>
            </a:avLst>
          </a:prstGeom>
          <a:solidFill>
            <a:srgbClr val="3E3E3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03321" y="2369760"/>
            <a:ext cx="244912" cy="244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44040" y="2854762"/>
            <a:ext cx="3093006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Transport Sector Transformation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844040" y="3180398"/>
            <a:ext cx="5249108" cy="674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Accelerate transition to electric public transport, implement congestion pricing in central zones, and expand metro network to reduce vehicular emissions by 40% within 5 years.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618809" y="2165747"/>
            <a:ext cx="5330666" cy="163235"/>
          </a:xfrm>
          <a:prstGeom prst="roundRect">
            <a:avLst>
              <a:gd name="adj" fmla="val 15007"/>
            </a:avLst>
          </a:prstGeom>
          <a:solidFill>
            <a:srgbClr val="3E3E3E"/>
          </a:solidFill>
          <a:ln/>
        </p:spPr>
      </p:sp>
      <p:sp>
        <p:nvSpPr>
          <p:cNvPr id="12" name="Shape 8"/>
          <p:cNvSpPr/>
          <p:nvPr/>
        </p:nvSpPr>
        <p:spPr>
          <a:xfrm>
            <a:off x="7373898" y="2002334"/>
            <a:ext cx="489942" cy="489942"/>
          </a:xfrm>
          <a:prstGeom prst="roundRect">
            <a:avLst>
              <a:gd name="adj" fmla="val 93317"/>
            </a:avLst>
          </a:prstGeom>
          <a:solidFill>
            <a:srgbClr val="3E3E3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6413" y="2124849"/>
            <a:ext cx="244912" cy="244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37133" y="2609850"/>
            <a:ext cx="2653070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Industrial Emission Controls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537133" y="2935486"/>
            <a:ext cx="5249228" cy="674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Mandate real-time emission monitoring systems in industrial zones, enforce stricter pollution standards, and incentivise adoption of cleaner production technologies.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1925717" y="4543425"/>
            <a:ext cx="5330547" cy="163235"/>
          </a:xfrm>
          <a:prstGeom prst="roundRect">
            <a:avLst>
              <a:gd name="adj" fmla="val 15007"/>
            </a:avLst>
          </a:prstGeom>
          <a:solidFill>
            <a:srgbClr val="3E3E3E"/>
          </a:solidFill>
          <a:ln/>
        </p:spPr>
      </p:sp>
      <p:sp>
        <p:nvSpPr>
          <p:cNvPr id="17" name="Shape 12"/>
          <p:cNvSpPr/>
          <p:nvPr/>
        </p:nvSpPr>
        <p:spPr>
          <a:xfrm>
            <a:off x="1680805" y="4380012"/>
            <a:ext cx="489942" cy="489942"/>
          </a:xfrm>
          <a:prstGeom prst="roundRect">
            <a:avLst>
              <a:gd name="adj" fmla="val 93317"/>
            </a:avLst>
          </a:prstGeom>
          <a:solidFill>
            <a:srgbClr val="3E3E3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03321" y="4502527"/>
            <a:ext cx="244912" cy="244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44040" y="4987528"/>
            <a:ext cx="2970490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Green Infrastructure Expansion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844040" y="5313164"/>
            <a:ext cx="5249108" cy="674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urban forests and green corridors along major roads to provide natural air filtration, targeting 25% increase in tree canopy cover across Delhi NCR.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7618809" y="4298513"/>
            <a:ext cx="5330666" cy="163235"/>
          </a:xfrm>
          <a:prstGeom prst="roundRect">
            <a:avLst>
              <a:gd name="adj" fmla="val 15007"/>
            </a:avLst>
          </a:prstGeom>
          <a:solidFill>
            <a:srgbClr val="3E3E3E"/>
          </a:solidFill>
          <a:ln/>
        </p:spPr>
      </p:sp>
      <p:sp>
        <p:nvSpPr>
          <p:cNvPr id="22" name="Shape 16"/>
          <p:cNvSpPr/>
          <p:nvPr/>
        </p:nvSpPr>
        <p:spPr>
          <a:xfrm>
            <a:off x="7373898" y="4135100"/>
            <a:ext cx="489942" cy="489942"/>
          </a:xfrm>
          <a:prstGeom prst="roundRect">
            <a:avLst>
              <a:gd name="adj" fmla="val 93317"/>
            </a:avLst>
          </a:prstGeom>
          <a:solidFill>
            <a:srgbClr val="3E3E3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96413" y="4257615"/>
            <a:ext cx="244912" cy="244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37133" y="4742617"/>
            <a:ext cx="2185868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Early Warning Systems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537133" y="5068252"/>
            <a:ext cx="5249228" cy="674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Establish AI-powered pollution forecasting platform integrated with meteorological data to issue advance public health advisories and trigger emergency response protocols.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1680805" y="6364239"/>
            <a:ext cx="11268789" cy="27980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1925717" y="6656665"/>
            <a:ext cx="11023878" cy="449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Research Scope: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Longitudinal health impact studies, source apportionment analysis using advanced receptor models, and evaluation of policy intervention effectiveness through continued monitoring.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1680805" y="6524387"/>
            <a:ext cx="22860" cy="713899"/>
          </a:xfrm>
          <a:prstGeom prst="rect">
            <a:avLst/>
          </a:prstGeom>
          <a:solidFill>
            <a:srgbClr val="F5F54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2026-01-28T14:35:29Z</dcterms:created>
  <dcterms:modified xsi:type="dcterms:W3CDTF">2026-01-28T14:35:29Z</dcterms:modified>
</cp:coreProperties>
</file>