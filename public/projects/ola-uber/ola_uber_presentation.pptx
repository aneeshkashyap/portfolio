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strument Sans Medium" panose="020B0604020202020204" charset="0"/>
      <p:regular r:id="rId13"/>
    </p:embeddedFont>
    <p:embeddedFont>
      <p:font typeface="Open Sans" panose="020B0606030504020204"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7" d="100"/>
          <a:sy n="57" d="100"/>
        </p:scale>
        <p:origin x="556"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91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Ola &amp; Uber: Ride Booking &amp; Cancellation Analysis (July 2024)</a:t>
            </a:r>
            <a:endParaRPr lang="en-US" sz="4450" dirty="0"/>
          </a:p>
        </p:txBody>
      </p:sp>
      <p:sp>
        <p:nvSpPr>
          <p:cNvPr id="4" name="Text 1"/>
          <p:cNvSpPr/>
          <p:nvPr/>
        </p:nvSpPr>
        <p:spPr>
          <a:xfrm>
            <a:off x="7937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This report analyses ride booking and cancellation patterns to enhance operational efficiency and revenue generation for July 2024.</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87981"/>
            <a:ext cx="6976705"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Dataset Overview &amp; Scope</a:t>
            </a:r>
            <a:endParaRPr lang="en-US" sz="4450" dirty="0"/>
          </a:p>
        </p:txBody>
      </p:sp>
      <p:sp>
        <p:nvSpPr>
          <p:cNvPr id="3" name="Text 1"/>
          <p:cNvSpPr/>
          <p:nvPr/>
        </p:nvSpPr>
        <p:spPr>
          <a:xfrm>
            <a:off x="793790" y="2359700"/>
            <a:ext cx="4205168" cy="217741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Our analysis leverages approximately 103,000 anonymised ride records exclusively from July 2024. Each record represents a unique ride request, providing a granular view of platform activity.</a:t>
            </a:r>
            <a:endParaRPr lang="en-US" sz="1750" dirty="0"/>
          </a:p>
        </p:txBody>
      </p:sp>
      <p:sp>
        <p:nvSpPr>
          <p:cNvPr id="4" name="Text 2"/>
          <p:cNvSpPr/>
          <p:nvPr/>
        </p:nvSpPr>
        <p:spPr>
          <a:xfrm>
            <a:off x="793790" y="4741188"/>
            <a:ext cx="4205168" cy="217741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The dataset includes critical information such as Booking_ID, Date, Booking_Status, Booking_Value, and Payment_Method, enabling a comprehensive evaluation of ride dynamics.</a:t>
            </a:r>
            <a:endParaRPr lang="en-US" sz="1750" dirty="0"/>
          </a:p>
        </p:txBody>
      </p:sp>
      <p:pic>
        <p:nvPicPr>
          <p:cNvPr id="5" name="Image 0" descr="preencoded.png"/>
          <p:cNvPicPr>
            <a:picLocks noChangeAspect="1"/>
          </p:cNvPicPr>
          <p:nvPr/>
        </p:nvPicPr>
        <p:blipFill>
          <a:blip r:embed="rId3"/>
          <a:stretch>
            <a:fillRect/>
          </a:stretch>
        </p:blipFill>
        <p:spPr>
          <a:xfrm>
            <a:off x="5559981" y="2292072"/>
            <a:ext cx="8284131" cy="46942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80924"/>
            <a:ext cx="7273171"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Key Performance Indicators</a:t>
            </a:r>
            <a:endParaRPr lang="en-US" sz="4450" dirty="0"/>
          </a:p>
        </p:txBody>
      </p:sp>
      <p:sp>
        <p:nvSpPr>
          <p:cNvPr id="3" name="Text 1"/>
          <p:cNvSpPr/>
          <p:nvPr/>
        </p:nvSpPr>
        <p:spPr>
          <a:xfrm>
            <a:off x="793790" y="2956679"/>
            <a:ext cx="3048000" cy="748427"/>
          </a:xfrm>
          <a:prstGeom prst="rect">
            <a:avLst/>
          </a:prstGeom>
          <a:noFill/>
          <a:ln/>
        </p:spPr>
        <p:txBody>
          <a:bodyPr wrap="none" lIns="0" tIns="0" rIns="0" bIns="0" rtlCol="0" anchor="t"/>
          <a:lstStyle/>
          <a:p>
            <a:pPr marL="0" indent="0" algn="ctr">
              <a:lnSpc>
                <a:spcPts val="5850"/>
              </a:lnSpc>
              <a:buNone/>
            </a:pPr>
            <a:r>
              <a:rPr lang="en-US" sz="5850" dirty="0">
                <a:solidFill>
                  <a:srgbClr val="BFBFBF"/>
                </a:solidFill>
                <a:latin typeface="Instrument Sans Medium" pitchFamily="34" charset="0"/>
                <a:ea typeface="Instrument Sans Medium" pitchFamily="34" charset="-122"/>
                <a:cs typeface="Instrument Sans Medium" pitchFamily="34" charset="-120"/>
              </a:rPr>
              <a:t>103K+</a:t>
            </a:r>
            <a:endParaRPr lang="en-US" sz="5850" dirty="0"/>
          </a:p>
        </p:txBody>
      </p:sp>
      <p:sp>
        <p:nvSpPr>
          <p:cNvPr id="4" name="Text 2"/>
          <p:cNvSpPr/>
          <p:nvPr/>
        </p:nvSpPr>
        <p:spPr>
          <a:xfrm>
            <a:off x="900113"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Total Rides Booked</a:t>
            </a:r>
            <a:endParaRPr lang="en-US" sz="2200" dirty="0"/>
          </a:p>
        </p:txBody>
      </p:sp>
      <p:sp>
        <p:nvSpPr>
          <p:cNvPr id="5" name="Text 3"/>
          <p:cNvSpPr/>
          <p:nvPr/>
        </p:nvSpPr>
        <p:spPr>
          <a:xfrm>
            <a:off x="793790" y="4478893"/>
            <a:ext cx="3048000" cy="725805"/>
          </a:xfrm>
          <a:prstGeom prst="rect">
            <a:avLst/>
          </a:prstGeom>
          <a:noFill/>
          <a:ln/>
        </p:spPr>
        <p:txBody>
          <a:bodyPr wrap="square" lIns="0" tIns="0" rIns="0" bIns="0" rtlCol="0" anchor="t"/>
          <a:lstStyle/>
          <a:p>
            <a:pPr marL="0" indent="0" algn="ctr">
              <a:lnSpc>
                <a:spcPts val="2850"/>
              </a:lnSpc>
              <a:buNone/>
            </a:pPr>
            <a:r>
              <a:rPr lang="en-US" sz="1750" dirty="0">
                <a:solidFill>
                  <a:srgbClr val="BFBFBF"/>
                </a:solidFill>
                <a:latin typeface="Open Sans" pitchFamily="34" charset="0"/>
                <a:ea typeface="Open Sans" pitchFamily="34" charset="-122"/>
                <a:cs typeface="Open Sans" pitchFamily="34" charset="-120"/>
              </a:rPr>
              <a:t>Volume of ride requests processed during July 2024.</a:t>
            </a:r>
            <a:endParaRPr lang="en-US" sz="1750" dirty="0"/>
          </a:p>
        </p:txBody>
      </p:sp>
      <p:sp>
        <p:nvSpPr>
          <p:cNvPr id="6" name="Text 4"/>
          <p:cNvSpPr/>
          <p:nvPr/>
        </p:nvSpPr>
        <p:spPr>
          <a:xfrm>
            <a:off x="4125278" y="2956679"/>
            <a:ext cx="3048119" cy="748427"/>
          </a:xfrm>
          <a:prstGeom prst="rect">
            <a:avLst/>
          </a:prstGeom>
          <a:noFill/>
          <a:ln/>
        </p:spPr>
        <p:txBody>
          <a:bodyPr wrap="none" lIns="0" tIns="0" rIns="0" bIns="0" rtlCol="0" anchor="t"/>
          <a:lstStyle/>
          <a:p>
            <a:pPr marL="0" indent="0" algn="ctr">
              <a:lnSpc>
                <a:spcPts val="5850"/>
              </a:lnSpc>
              <a:buNone/>
            </a:pPr>
            <a:r>
              <a:rPr lang="en-US" sz="5850" dirty="0">
                <a:solidFill>
                  <a:srgbClr val="BFBFBF"/>
                </a:solidFill>
                <a:latin typeface="Instrument Sans Medium" pitchFamily="34" charset="0"/>
                <a:ea typeface="Instrument Sans Medium" pitchFamily="34" charset="-122"/>
                <a:cs typeface="Instrument Sans Medium" pitchFamily="34" charset="-120"/>
              </a:rPr>
              <a:t>~27%</a:t>
            </a:r>
            <a:endParaRPr lang="en-US" sz="5850" dirty="0"/>
          </a:p>
        </p:txBody>
      </p:sp>
      <p:sp>
        <p:nvSpPr>
          <p:cNvPr id="7" name="Text 5"/>
          <p:cNvSpPr/>
          <p:nvPr/>
        </p:nvSpPr>
        <p:spPr>
          <a:xfrm>
            <a:off x="4231719"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Cancellation Rate</a:t>
            </a:r>
            <a:endParaRPr lang="en-US" sz="2200" dirty="0"/>
          </a:p>
        </p:txBody>
      </p:sp>
      <p:sp>
        <p:nvSpPr>
          <p:cNvPr id="8" name="Text 6"/>
          <p:cNvSpPr/>
          <p:nvPr/>
        </p:nvSpPr>
        <p:spPr>
          <a:xfrm>
            <a:off x="4125278" y="4478893"/>
            <a:ext cx="3048119" cy="1088708"/>
          </a:xfrm>
          <a:prstGeom prst="rect">
            <a:avLst/>
          </a:prstGeom>
          <a:noFill/>
          <a:ln/>
        </p:spPr>
        <p:txBody>
          <a:bodyPr wrap="square" lIns="0" tIns="0" rIns="0" bIns="0" rtlCol="0" anchor="t"/>
          <a:lstStyle/>
          <a:p>
            <a:pPr marL="0" indent="0" algn="ctr">
              <a:lnSpc>
                <a:spcPts val="2850"/>
              </a:lnSpc>
              <a:buNone/>
            </a:pPr>
            <a:r>
              <a:rPr lang="en-US" sz="1750" dirty="0">
                <a:solidFill>
                  <a:srgbClr val="BFBFBF"/>
                </a:solidFill>
                <a:latin typeface="Open Sans" pitchFamily="34" charset="0"/>
                <a:ea typeface="Open Sans" pitchFamily="34" charset="-122"/>
                <a:cs typeface="Open Sans" pitchFamily="34" charset="-120"/>
              </a:rPr>
              <a:t>Percentage of booked rides that were subsequently cancelled.</a:t>
            </a:r>
            <a:endParaRPr lang="en-US" sz="1750" dirty="0"/>
          </a:p>
        </p:txBody>
      </p:sp>
      <p:sp>
        <p:nvSpPr>
          <p:cNvPr id="9" name="Text 7"/>
          <p:cNvSpPr/>
          <p:nvPr/>
        </p:nvSpPr>
        <p:spPr>
          <a:xfrm>
            <a:off x="7456884" y="2956679"/>
            <a:ext cx="3048119" cy="748427"/>
          </a:xfrm>
          <a:prstGeom prst="rect">
            <a:avLst/>
          </a:prstGeom>
          <a:noFill/>
          <a:ln/>
        </p:spPr>
        <p:txBody>
          <a:bodyPr wrap="none" lIns="0" tIns="0" rIns="0" bIns="0" rtlCol="0" anchor="t"/>
          <a:lstStyle/>
          <a:p>
            <a:pPr marL="0" indent="0" algn="ctr">
              <a:lnSpc>
                <a:spcPts val="5850"/>
              </a:lnSpc>
              <a:buNone/>
            </a:pPr>
            <a:r>
              <a:rPr lang="en-US" sz="5850" dirty="0">
                <a:solidFill>
                  <a:srgbClr val="BFBFBF"/>
                </a:solidFill>
                <a:latin typeface="Instrument Sans Medium" pitchFamily="34" charset="0"/>
                <a:ea typeface="Instrument Sans Medium" pitchFamily="34" charset="-122"/>
                <a:cs typeface="Instrument Sans Medium" pitchFamily="34" charset="-120"/>
              </a:rPr>
              <a:t>₹ 57M</a:t>
            </a:r>
            <a:endParaRPr lang="en-US" sz="5850" dirty="0"/>
          </a:p>
        </p:txBody>
      </p:sp>
      <p:sp>
        <p:nvSpPr>
          <p:cNvPr id="10" name="Text 8"/>
          <p:cNvSpPr/>
          <p:nvPr/>
        </p:nvSpPr>
        <p:spPr>
          <a:xfrm>
            <a:off x="7563326"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Total Revenue</a:t>
            </a:r>
            <a:endParaRPr lang="en-US" sz="2200" dirty="0"/>
          </a:p>
        </p:txBody>
      </p:sp>
      <p:sp>
        <p:nvSpPr>
          <p:cNvPr id="11" name="Text 9"/>
          <p:cNvSpPr/>
          <p:nvPr/>
        </p:nvSpPr>
        <p:spPr>
          <a:xfrm>
            <a:off x="7456884" y="4478893"/>
            <a:ext cx="3048119" cy="725805"/>
          </a:xfrm>
          <a:prstGeom prst="rect">
            <a:avLst/>
          </a:prstGeom>
          <a:noFill/>
          <a:ln/>
        </p:spPr>
        <p:txBody>
          <a:bodyPr wrap="square" lIns="0" tIns="0" rIns="0" bIns="0" rtlCol="0" anchor="t"/>
          <a:lstStyle/>
          <a:p>
            <a:pPr marL="0" indent="0" algn="ctr">
              <a:lnSpc>
                <a:spcPts val="2850"/>
              </a:lnSpc>
              <a:buNone/>
            </a:pPr>
            <a:r>
              <a:rPr lang="en-US" sz="1750" dirty="0">
                <a:solidFill>
                  <a:srgbClr val="BFBFBF"/>
                </a:solidFill>
                <a:latin typeface="Open Sans" pitchFamily="34" charset="0"/>
                <a:ea typeface="Open Sans" pitchFamily="34" charset="-122"/>
                <a:cs typeface="Open Sans" pitchFamily="34" charset="-120"/>
              </a:rPr>
              <a:t>Aggregated revenue from completed rides.</a:t>
            </a:r>
            <a:endParaRPr lang="en-US" sz="1750" dirty="0"/>
          </a:p>
        </p:txBody>
      </p:sp>
      <p:sp>
        <p:nvSpPr>
          <p:cNvPr id="12" name="Text 10"/>
          <p:cNvSpPr/>
          <p:nvPr/>
        </p:nvSpPr>
        <p:spPr>
          <a:xfrm>
            <a:off x="10788491" y="2956679"/>
            <a:ext cx="3048119" cy="748427"/>
          </a:xfrm>
          <a:prstGeom prst="rect">
            <a:avLst/>
          </a:prstGeom>
          <a:noFill/>
          <a:ln/>
        </p:spPr>
        <p:txBody>
          <a:bodyPr wrap="none" lIns="0" tIns="0" rIns="0" bIns="0" rtlCol="0" anchor="t"/>
          <a:lstStyle/>
          <a:p>
            <a:pPr marL="0" indent="0" algn="ctr">
              <a:lnSpc>
                <a:spcPts val="5850"/>
              </a:lnSpc>
              <a:buNone/>
            </a:pPr>
            <a:r>
              <a:rPr lang="en-US" sz="5850" dirty="0">
                <a:solidFill>
                  <a:srgbClr val="BFBFBF"/>
                </a:solidFill>
                <a:latin typeface="Instrument Sans Medium" pitchFamily="34" charset="0"/>
                <a:ea typeface="Instrument Sans Medium" pitchFamily="34" charset="-122"/>
                <a:cs typeface="Instrument Sans Medium" pitchFamily="34" charset="-120"/>
              </a:rPr>
              <a:t>₹ 548.75</a:t>
            </a:r>
            <a:endParaRPr lang="en-US" sz="5850" dirty="0"/>
          </a:p>
        </p:txBody>
      </p:sp>
      <p:sp>
        <p:nvSpPr>
          <p:cNvPr id="13" name="Text 11"/>
          <p:cNvSpPr/>
          <p:nvPr/>
        </p:nvSpPr>
        <p:spPr>
          <a:xfrm>
            <a:off x="10894933"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Avg Revenue/Ride</a:t>
            </a:r>
            <a:endParaRPr lang="en-US" sz="2200" dirty="0"/>
          </a:p>
        </p:txBody>
      </p:sp>
      <p:sp>
        <p:nvSpPr>
          <p:cNvPr id="14" name="Text 12"/>
          <p:cNvSpPr/>
          <p:nvPr/>
        </p:nvSpPr>
        <p:spPr>
          <a:xfrm>
            <a:off x="10788491" y="4478893"/>
            <a:ext cx="3048119" cy="1088708"/>
          </a:xfrm>
          <a:prstGeom prst="rect">
            <a:avLst/>
          </a:prstGeom>
          <a:noFill/>
          <a:ln/>
        </p:spPr>
        <p:txBody>
          <a:bodyPr wrap="square" lIns="0" tIns="0" rIns="0" bIns="0" rtlCol="0" anchor="t"/>
          <a:lstStyle/>
          <a:p>
            <a:pPr marL="0" indent="0" algn="ctr">
              <a:lnSpc>
                <a:spcPts val="2850"/>
              </a:lnSpc>
              <a:buNone/>
            </a:pPr>
            <a:r>
              <a:rPr lang="en-US" sz="1750" dirty="0">
                <a:solidFill>
                  <a:srgbClr val="BFBFBF"/>
                </a:solidFill>
                <a:latin typeface="Open Sans" pitchFamily="34" charset="0"/>
                <a:ea typeface="Open Sans" pitchFamily="34" charset="-122"/>
                <a:cs typeface="Open Sans" pitchFamily="34" charset="-120"/>
              </a:rPr>
              <a:t>Average earnings per successfully completed journey.</a:t>
            </a:r>
            <a:endParaRPr lang="en-US" sz="1750" dirty="0"/>
          </a:p>
        </p:txBody>
      </p:sp>
      <p:sp>
        <p:nvSpPr>
          <p:cNvPr id="15" name="Text 13"/>
          <p:cNvSpPr/>
          <p:nvPr/>
        </p:nvSpPr>
        <p:spPr>
          <a:xfrm>
            <a:off x="793790" y="582275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These KPIs are crucial for assessing platform health, identifying areas for operational improvement, and understanding financial performance.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15603"/>
            <a:ext cx="7231261"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Booking Status Distribution</a:t>
            </a:r>
            <a:endParaRPr lang="en-US" sz="4450" dirty="0"/>
          </a:p>
        </p:txBody>
      </p:sp>
      <p:pic>
        <p:nvPicPr>
          <p:cNvPr id="3" name="Image 0" descr="preencoded.png"/>
          <p:cNvPicPr>
            <a:picLocks noChangeAspect="1"/>
          </p:cNvPicPr>
          <p:nvPr/>
        </p:nvPicPr>
        <p:blipFill>
          <a:blip r:embed="rId3"/>
          <a:stretch>
            <a:fillRect/>
          </a:stretch>
        </p:blipFill>
        <p:spPr>
          <a:xfrm>
            <a:off x="793790" y="2319695"/>
            <a:ext cx="8284131" cy="4154924"/>
          </a:xfrm>
          <a:prstGeom prst="rect">
            <a:avLst/>
          </a:prstGeom>
        </p:spPr>
      </p:pic>
      <p:sp>
        <p:nvSpPr>
          <p:cNvPr id="4" name="Shape 1"/>
          <p:cNvSpPr/>
          <p:nvPr/>
        </p:nvSpPr>
        <p:spPr>
          <a:xfrm>
            <a:off x="1366242" y="6505099"/>
            <a:ext cx="226814" cy="226814"/>
          </a:xfrm>
          <a:prstGeom prst="roundRect">
            <a:avLst>
              <a:gd name="adj" fmla="val 8063"/>
            </a:avLst>
          </a:prstGeom>
          <a:solidFill>
            <a:srgbClr val="494904"/>
          </a:solidFill>
          <a:ln/>
        </p:spPr>
      </p:sp>
      <p:sp>
        <p:nvSpPr>
          <p:cNvPr id="5" name="Text 2"/>
          <p:cNvSpPr/>
          <p:nvPr/>
        </p:nvSpPr>
        <p:spPr>
          <a:xfrm>
            <a:off x="1654016" y="6505099"/>
            <a:ext cx="1096447" cy="226814"/>
          </a:xfrm>
          <a:prstGeom prst="rect">
            <a:avLst/>
          </a:prstGeom>
          <a:noFill/>
          <a:ln/>
        </p:spPr>
        <p:txBody>
          <a:bodyPr wrap="none" lIns="0" tIns="0" rIns="0" bIns="0" rtlCol="0" anchor="t"/>
          <a:lstStyle/>
          <a:p>
            <a:pPr marL="0" indent="0" algn="l">
              <a:lnSpc>
                <a:spcPts val="1750"/>
              </a:lnSpc>
              <a:buNone/>
            </a:pPr>
            <a:r>
              <a:rPr lang="en-US" sz="1750" dirty="0">
                <a:solidFill>
                  <a:srgbClr val="BFBFBF"/>
                </a:solidFill>
                <a:latin typeface="Open Sans" pitchFamily="34" charset="0"/>
                <a:ea typeface="Open Sans" pitchFamily="34" charset="-122"/>
                <a:cs typeface="Open Sans" pitchFamily="34" charset="-120"/>
              </a:rPr>
              <a:t>Successful</a:t>
            </a:r>
            <a:endParaRPr lang="en-US" sz="1750" dirty="0"/>
          </a:p>
        </p:txBody>
      </p:sp>
      <p:sp>
        <p:nvSpPr>
          <p:cNvPr id="6" name="Shape 3"/>
          <p:cNvSpPr/>
          <p:nvPr/>
        </p:nvSpPr>
        <p:spPr>
          <a:xfrm>
            <a:off x="2902863" y="6505099"/>
            <a:ext cx="226814" cy="226814"/>
          </a:xfrm>
          <a:prstGeom prst="roundRect">
            <a:avLst>
              <a:gd name="adj" fmla="val 8063"/>
            </a:avLst>
          </a:prstGeom>
          <a:solidFill>
            <a:srgbClr val="A9A909"/>
          </a:solidFill>
          <a:ln/>
        </p:spPr>
      </p:sp>
      <p:sp>
        <p:nvSpPr>
          <p:cNvPr id="7" name="Text 4"/>
          <p:cNvSpPr/>
          <p:nvPr/>
        </p:nvSpPr>
        <p:spPr>
          <a:xfrm>
            <a:off x="3190637" y="6505099"/>
            <a:ext cx="1669018" cy="453628"/>
          </a:xfrm>
          <a:prstGeom prst="rect">
            <a:avLst/>
          </a:prstGeom>
          <a:noFill/>
          <a:ln/>
        </p:spPr>
        <p:txBody>
          <a:bodyPr wrap="square" lIns="0" tIns="0" rIns="0" bIns="0" rtlCol="0" anchor="t"/>
          <a:lstStyle/>
          <a:p>
            <a:pPr marL="0" indent="0" algn="l">
              <a:lnSpc>
                <a:spcPts val="1750"/>
              </a:lnSpc>
              <a:buNone/>
            </a:pPr>
            <a:r>
              <a:rPr lang="en-US" sz="1750" dirty="0">
                <a:solidFill>
                  <a:srgbClr val="BFBFBF"/>
                </a:solidFill>
                <a:latin typeface="Open Sans" pitchFamily="34" charset="0"/>
                <a:ea typeface="Open Sans" pitchFamily="34" charset="-122"/>
                <a:cs typeface="Open Sans" pitchFamily="34" charset="-120"/>
              </a:rPr>
              <a:t>Cancelled by Driver</a:t>
            </a:r>
            <a:endParaRPr lang="en-US" sz="1750" dirty="0"/>
          </a:p>
        </p:txBody>
      </p:sp>
      <p:sp>
        <p:nvSpPr>
          <p:cNvPr id="8" name="Shape 5"/>
          <p:cNvSpPr/>
          <p:nvPr/>
        </p:nvSpPr>
        <p:spPr>
          <a:xfrm>
            <a:off x="5012055" y="6505099"/>
            <a:ext cx="226814" cy="226814"/>
          </a:xfrm>
          <a:prstGeom prst="roundRect">
            <a:avLst>
              <a:gd name="adj" fmla="val 8063"/>
            </a:avLst>
          </a:prstGeom>
          <a:solidFill>
            <a:srgbClr val="F3F325"/>
          </a:solidFill>
          <a:ln/>
        </p:spPr>
      </p:sp>
      <p:sp>
        <p:nvSpPr>
          <p:cNvPr id="9" name="Text 6"/>
          <p:cNvSpPr/>
          <p:nvPr/>
        </p:nvSpPr>
        <p:spPr>
          <a:xfrm>
            <a:off x="5299829" y="6505099"/>
            <a:ext cx="1668899" cy="453628"/>
          </a:xfrm>
          <a:prstGeom prst="rect">
            <a:avLst/>
          </a:prstGeom>
          <a:noFill/>
          <a:ln/>
        </p:spPr>
        <p:txBody>
          <a:bodyPr wrap="square" lIns="0" tIns="0" rIns="0" bIns="0" rtlCol="0" anchor="t"/>
          <a:lstStyle/>
          <a:p>
            <a:pPr marL="0" indent="0" algn="l">
              <a:lnSpc>
                <a:spcPts val="1750"/>
              </a:lnSpc>
              <a:buNone/>
            </a:pPr>
            <a:r>
              <a:rPr lang="en-US" sz="1750" dirty="0">
                <a:solidFill>
                  <a:srgbClr val="BFBFBF"/>
                </a:solidFill>
                <a:latin typeface="Open Sans" pitchFamily="34" charset="0"/>
                <a:ea typeface="Open Sans" pitchFamily="34" charset="-122"/>
                <a:cs typeface="Open Sans" pitchFamily="34" charset="-120"/>
              </a:rPr>
              <a:t>Cancelled by Customer</a:t>
            </a:r>
            <a:endParaRPr lang="en-US" sz="1750" dirty="0"/>
          </a:p>
        </p:txBody>
      </p:sp>
      <p:sp>
        <p:nvSpPr>
          <p:cNvPr id="10" name="Shape 7"/>
          <p:cNvSpPr/>
          <p:nvPr/>
        </p:nvSpPr>
        <p:spPr>
          <a:xfrm>
            <a:off x="7121128" y="6505099"/>
            <a:ext cx="226814" cy="226814"/>
          </a:xfrm>
          <a:prstGeom prst="roundRect">
            <a:avLst>
              <a:gd name="adj" fmla="val 8063"/>
            </a:avLst>
          </a:prstGeom>
          <a:solidFill>
            <a:srgbClr val="F8F886"/>
          </a:solidFill>
          <a:ln/>
        </p:spPr>
      </p:sp>
      <p:sp>
        <p:nvSpPr>
          <p:cNvPr id="11" name="Text 8"/>
          <p:cNvSpPr/>
          <p:nvPr/>
        </p:nvSpPr>
        <p:spPr>
          <a:xfrm>
            <a:off x="7408902" y="6505099"/>
            <a:ext cx="1669018" cy="453628"/>
          </a:xfrm>
          <a:prstGeom prst="rect">
            <a:avLst/>
          </a:prstGeom>
          <a:noFill/>
          <a:ln/>
        </p:spPr>
        <p:txBody>
          <a:bodyPr wrap="square" lIns="0" tIns="0" rIns="0" bIns="0" rtlCol="0" anchor="t"/>
          <a:lstStyle/>
          <a:p>
            <a:pPr marL="0" indent="0" algn="l">
              <a:lnSpc>
                <a:spcPts val="1750"/>
              </a:lnSpc>
              <a:buNone/>
            </a:pPr>
            <a:r>
              <a:rPr lang="en-US" sz="1750" dirty="0">
                <a:solidFill>
                  <a:srgbClr val="BFBFBF"/>
                </a:solidFill>
                <a:latin typeface="Open Sans" pitchFamily="34" charset="0"/>
                <a:ea typeface="Open Sans" pitchFamily="34" charset="-122"/>
                <a:cs typeface="Open Sans" pitchFamily="34" charset="-120"/>
              </a:rPr>
              <a:t>Driver Not Found</a:t>
            </a:r>
            <a:endParaRPr lang="en-US" sz="1750" dirty="0"/>
          </a:p>
        </p:txBody>
      </p:sp>
      <p:sp>
        <p:nvSpPr>
          <p:cNvPr id="12" name="Text 9"/>
          <p:cNvSpPr/>
          <p:nvPr/>
        </p:nvSpPr>
        <p:spPr>
          <a:xfrm>
            <a:off x="9638943" y="2541151"/>
            <a:ext cx="4205168" cy="2540318"/>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The distribution of booking statuses reveals a significant challenge posed by driver-related failures. Cancellations initiated by drivers and instances where a driver could not be found account for a substantial portion of unfulfilled requests.</a:t>
            </a:r>
            <a:endParaRPr lang="en-US" sz="1750" dirty="0"/>
          </a:p>
        </p:txBody>
      </p:sp>
      <p:sp>
        <p:nvSpPr>
          <p:cNvPr id="13" name="Text 10"/>
          <p:cNvSpPr/>
          <p:nvPr/>
        </p:nvSpPr>
        <p:spPr>
          <a:xfrm>
            <a:off x="9638943" y="5285542"/>
            <a:ext cx="4205168" cy="1451610"/>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This indicates a supply-side constraint impacting service reliability and customer satisfaction, representing a key area for strategic intervention.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04486" y="476131"/>
            <a:ext cx="6256734" cy="517327"/>
          </a:xfrm>
          <a:prstGeom prst="rect">
            <a:avLst/>
          </a:prstGeom>
          <a:noFill/>
          <a:ln/>
        </p:spPr>
        <p:txBody>
          <a:bodyPr wrap="none" lIns="0" tIns="0" rIns="0" bIns="0" rtlCol="0" anchor="t"/>
          <a:lstStyle/>
          <a:p>
            <a:pPr marL="0" indent="0" algn="l">
              <a:lnSpc>
                <a:spcPts val="4050"/>
              </a:lnSpc>
              <a:buNone/>
            </a:pPr>
            <a:r>
              <a:rPr lang="en-US" sz="3250" dirty="0">
                <a:solidFill>
                  <a:srgbClr val="FEFEFE"/>
                </a:solidFill>
                <a:latin typeface="Instrument Sans Medium" pitchFamily="34" charset="0"/>
                <a:ea typeface="Instrument Sans Medium" pitchFamily="34" charset="-122"/>
                <a:cs typeface="Instrument Sans Medium" pitchFamily="34" charset="-120"/>
              </a:rPr>
              <a:t>Deep Dive: Cancellation Analysis</a:t>
            </a:r>
            <a:endParaRPr lang="en-US" sz="3250" dirty="0"/>
          </a:p>
        </p:txBody>
      </p:sp>
      <p:pic>
        <p:nvPicPr>
          <p:cNvPr id="3" name="Image 0" descr="preencoded.png"/>
          <p:cNvPicPr>
            <a:picLocks noChangeAspect="1"/>
          </p:cNvPicPr>
          <p:nvPr/>
        </p:nvPicPr>
        <p:blipFill>
          <a:blip r:embed="rId3"/>
          <a:stretch>
            <a:fillRect/>
          </a:stretch>
        </p:blipFill>
        <p:spPr>
          <a:xfrm>
            <a:off x="3039070" y="1235035"/>
            <a:ext cx="8552259" cy="5559862"/>
          </a:xfrm>
          <a:prstGeom prst="rect">
            <a:avLst/>
          </a:prstGeom>
        </p:spPr>
      </p:pic>
      <p:sp>
        <p:nvSpPr>
          <p:cNvPr id="4" name="Text 1"/>
          <p:cNvSpPr/>
          <p:nvPr/>
        </p:nvSpPr>
        <p:spPr>
          <a:xfrm>
            <a:off x="3616502" y="4249102"/>
            <a:ext cx="2569780" cy="321223"/>
          </a:xfrm>
          <a:prstGeom prst="rect">
            <a:avLst/>
          </a:prstGeom>
          <a:noFill/>
          <a:ln/>
        </p:spPr>
        <p:txBody>
          <a:bodyPr wrap="none" lIns="0" tIns="0" rIns="0" bIns="0" rtlCol="0" anchor="t"/>
          <a:lstStyle/>
          <a:p>
            <a:pPr marL="0" indent="0" algn="ctr">
              <a:lnSpc>
                <a:spcPts val="1650"/>
              </a:lnSpc>
              <a:buNone/>
            </a:pPr>
            <a:r>
              <a:rPr lang="en-US" sz="1350" dirty="0">
                <a:solidFill>
                  <a:srgbClr val="000000"/>
                </a:solidFill>
                <a:latin typeface="Instrument Sans Medium" pitchFamily="34" charset="0"/>
                <a:ea typeface="Instrument Sans Medium" pitchFamily="34" charset="-122"/>
                <a:cs typeface="Instrument Sans Medium" pitchFamily="34" charset="-120"/>
              </a:rPr>
              <a:t>Driver Unavailable</a:t>
            </a:r>
            <a:endParaRPr lang="en-US" sz="1350" dirty="0"/>
          </a:p>
        </p:txBody>
      </p:sp>
      <p:sp>
        <p:nvSpPr>
          <p:cNvPr id="5" name="Text 2"/>
          <p:cNvSpPr/>
          <p:nvPr/>
        </p:nvSpPr>
        <p:spPr>
          <a:xfrm>
            <a:off x="6705948" y="2432410"/>
            <a:ext cx="2124352" cy="642445"/>
          </a:xfrm>
          <a:prstGeom prst="rect">
            <a:avLst/>
          </a:prstGeom>
          <a:noFill/>
          <a:ln/>
        </p:spPr>
        <p:txBody>
          <a:bodyPr wrap="square" lIns="0" tIns="0" rIns="0" bIns="0" rtlCol="0" anchor="t"/>
          <a:lstStyle/>
          <a:p>
            <a:pPr marL="0" indent="0" algn="ctr">
              <a:lnSpc>
                <a:spcPts val="1650"/>
              </a:lnSpc>
              <a:buNone/>
            </a:pPr>
            <a:r>
              <a:rPr lang="en-US" sz="1350" dirty="0">
                <a:solidFill>
                  <a:srgbClr val="000000"/>
                </a:solidFill>
                <a:latin typeface="Instrument Sans Medium" pitchFamily="34" charset="0"/>
                <a:ea typeface="Instrument Sans Medium" pitchFamily="34" charset="-122"/>
                <a:cs typeface="Instrument Sans Medium" pitchFamily="34" charset="-120"/>
              </a:rPr>
              <a:t>Customer Changed Mind</a:t>
            </a:r>
            <a:endParaRPr lang="en-US" sz="1350" dirty="0"/>
          </a:p>
        </p:txBody>
      </p:sp>
      <p:sp>
        <p:nvSpPr>
          <p:cNvPr id="6" name="Text 3"/>
          <p:cNvSpPr/>
          <p:nvPr/>
        </p:nvSpPr>
        <p:spPr>
          <a:xfrm>
            <a:off x="9195779" y="4226259"/>
            <a:ext cx="1918769" cy="321222"/>
          </a:xfrm>
          <a:prstGeom prst="rect">
            <a:avLst/>
          </a:prstGeom>
          <a:noFill/>
          <a:ln/>
        </p:spPr>
        <p:txBody>
          <a:bodyPr wrap="none" lIns="0" tIns="0" rIns="0" bIns="0" rtlCol="0" anchor="t"/>
          <a:lstStyle/>
          <a:p>
            <a:pPr marL="0" indent="0" algn="ctr">
              <a:lnSpc>
                <a:spcPts val="1650"/>
              </a:lnSpc>
              <a:buNone/>
            </a:pPr>
            <a:r>
              <a:rPr lang="en-US" sz="1350" dirty="0">
                <a:solidFill>
                  <a:srgbClr val="000000"/>
                </a:solidFill>
                <a:latin typeface="Instrument Sans Medium" pitchFamily="34" charset="0"/>
                <a:ea typeface="Instrument Sans Medium" pitchFamily="34" charset="-122"/>
                <a:cs typeface="Instrument Sans Medium" pitchFamily="34" charset="-120"/>
              </a:rPr>
              <a:t>Long Wait Time</a:t>
            </a:r>
            <a:endParaRPr lang="en-US" sz="1350" dirty="0"/>
          </a:p>
        </p:txBody>
      </p:sp>
      <p:sp>
        <p:nvSpPr>
          <p:cNvPr id="7" name="Text 4"/>
          <p:cNvSpPr/>
          <p:nvPr/>
        </p:nvSpPr>
        <p:spPr>
          <a:xfrm>
            <a:off x="6888688" y="5334120"/>
            <a:ext cx="1804556" cy="321222"/>
          </a:xfrm>
          <a:prstGeom prst="rect">
            <a:avLst/>
          </a:prstGeom>
          <a:noFill/>
          <a:ln/>
        </p:spPr>
        <p:txBody>
          <a:bodyPr wrap="none" lIns="0" tIns="0" rIns="0" bIns="0" rtlCol="0" anchor="t"/>
          <a:lstStyle/>
          <a:p>
            <a:pPr marL="0" indent="0" algn="ctr">
              <a:lnSpc>
                <a:spcPts val="1650"/>
              </a:lnSpc>
              <a:buNone/>
            </a:pPr>
            <a:r>
              <a:rPr lang="en-US" sz="1350" dirty="0">
                <a:solidFill>
                  <a:srgbClr val="000000"/>
                </a:solidFill>
                <a:latin typeface="Instrument Sans Medium" pitchFamily="34" charset="0"/>
                <a:ea typeface="Instrument Sans Medium" pitchFamily="34" charset="-122"/>
                <a:cs typeface="Instrument Sans Medium" pitchFamily="34" charset="-120"/>
              </a:rPr>
              <a:t>App Error</a:t>
            </a:r>
            <a:endParaRPr lang="en-US" sz="1350" dirty="0"/>
          </a:p>
        </p:txBody>
      </p:sp>
      <p:sp>
        <p:nvSpPr>
          <p:cNvPr id="8" name="Text 5"/>
          <p:cNvSpPr/>
          <p:nvPr/>
        </p:nvSpPr>
        <p:spPr>
          <a:xfrm>
            <a:off x="1604486" y="6930747"/>
            <a:ext cx="11421428" cy="457914"/>
          </a:xfrm>
          <a:prstGeom prst="rect">
            <a:avLst/>
          </a:prstGeom>
          <a:noFill/>
          <a:ln/>
        </p:spPr>
        <p:txBody>
          <a:bodyPr wrap="square" lIns="0" tIns="0" rIns="0" bIns="0" rtlCol="0" anchor="t"/>
          <a:lstStyle/>
          <a:p>
            <a:pPr marL="0" indent="0" algn="l">
              <a:lnSpc>
                <a:spcPts val="1800"/>
              </a:lnSpc>
              <a:buNone/>
            </a:pPr>
            <a:r>
              <a:rPr lang="en-US" sz="1300" dirty="0">
                <a:solidFill>
                  <a:srgbClr val="BFBFBF"/>
                </a:solidFill>
                <a:latin typeface="Open Sans" pitchFamily="34" charset="0"/>
                <a:ea typeface="Open Sans" pitchFamily="34" charset="-122"/>
                <a:cs typeface="Open Sans" pitchFamily="34" charset="-120"/>
              </a:rPr>
              <a:t>A focused examination of cancelled rides highlights that driver-related issues are the primary contributors. This suggests a systemic problem with driver availability, routing efficiency, or matching algorithms rather than customer-initiated changes.</a:t>
            </a:r>
            <a:endParaRPr lang="en-US" sz="1300" dirty="0"/>
          </a:p>
        </p:txBody>
      </p:sp>
      <p:sp>
        <p:nvSpPr>
          <p:cNvPr id="9" name="Text 6"/>
          <p:cNvSpPr/>
          <p:nvPr/>
        </p:nvSpPr>
        <p:spPr>
          <a:xfrm>
            <a:off x="1604486" y="7524512"/>
            <a:ext cx="11421428" cy="228957"/>
          </a:xfrm>
          <a:prstGeom prst="rect">
            <a:avLst/>
          </a:prstGeom>
          <a:noFill/>
          <a:ln/>
        </p:spPr>
        <p:txBody>
          <a:bodyPr wrap="none" lIns="0" tIns="0" rIns="0" bIns="0" rtlCol="0" anchor="t"/>
          <a:lstStyle/>
          <a:p>
            <a:pPr marL="0" indent="0" algn="l">
              <a:lnSpc>
                <a:spcPts val="1800"/>
              </a:lnSpc>
              <a:buNone/>
            </a:pPr>
            <a:r>
              <a:rPr lang="en-US" sz="1300" dirty="0">
                <a:solidFill>
                  <a:srgbClr val="BFBFBF"/>
                </a:solidFill>
                <a:latin typeface="Open Sans" pitchFamily="34" charset="0"/>
                <a:ea typeface="Open Sans" pitchFamily="34" charset="-122"/>
                <a:cs typeface="Open Sans" pitchFamily="34" charset="-120"/>
              </a:rPr>
              <a:t>Addressing these driver-centric cancellation reasons presents the most direct path to improving ride completion rates and overall service quality.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12746" y="1276350"/>
            <a:ext cx="7685127" cy="570905"/>
          </a:xfrm>
          <a:prstGeom prst="rect">
            <a:avLst/>
          </a:prstGeom>
          <a:noFill/>
          <a:ln/>
        </p:spPr>
        <p:txBody>
          <a:bodyPr wrap="none" lIns="0" tIns="0" rIns="0" bIns="0" rtlCol="0" anchor="t"/>
          <a:lstStyle/>
          <a:p>
            <a:pPr marL="0" indent="0" algn="l">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Hidden Revenue Loss &amp; Opportunity</a:t>
            </a:r>
            <a:endParaRPr lang="en-US" sz="3550" dirty="0"/>
          </a:p>
        </p:txBody>
      </p:sp>
      <p:sp>
        <p:nvSpPr>
          <p:cNvPr id="3" name="Text 1"/>
          <p:cNvSpPr/>
          <p:nvPr/>
        </p:nvSpPr>
        <p:spPr>
          <a:xfrm>
            <a:off x="1012746" y="2345650"/>
            <a:ext cx="3960257" cy="285393"/>
          </a:xfrm>
          <a:prstGeom prst="rect">
            <a:avLst/>
          </a:prstGeom>
          <a:noFill/>
          <a:ln/>
        </p:spPr>
        <p:txBody>
          <a:bodyPr wrap="none" lIns="0" tIns="0" rIns="0" bIns="0" rtlCol="0" anchor="t"/>
          <a:lstStyle/>
          <a:p>
            <a:pPr marL="0" indent="0" algn="l">
              <a:lnSpc>
                <a:spcPts val="2200"/>
              </a:lnSpc>
              <a:buNone/>
            </a:pPr>
            <a:r>
              <a:rPr lang="en-US" sz="1750" dirty="0">
                <a:solidFill>
                  <a:srgbClr val="FEFEFE"/>
                </a:solidFill>
                <a:latin typeface="Instrument Sans Medium" pitchFamily="34" charset="0"/>
                <a:ea typeface="Instrument Sans Medium" pitchFamily="34" charset="-122"/>
                <a:cs typeface="Instrument Sans Medium" pitchFamily="34" charset="-120"/>
              </a:rPr>
              <a:t>Average Revenue Per Successful Ride</a:t>
            </a:r>
            <a:endParaRPr lang="en-US" sz="1750" dirty="0"/>
          </a:p>
        </p:txBody>
      </p:sp>
      <p:sp>
        <p:nvSpPr>
          <p:cNvPr id="4" name="Text 2"/>
          <p:cNvSpPr/>
          <p:nvPr/>
        </p:nvSpPr>
        <p:spPr>
          <a:xfrm>
            <a:off x="1012746" y="2778085"/>
            <a:ext cx="4122063" cy="1054894"/>
          </a:xfrm>
          <a:prstGeom prst="rect">
            <a:avLst/>
          </a:prstGeom>
          <a:noFill/>
          <a:ln/>
        </p:spPr>
        <p:txBody>
          <a:bodyPr wrap="square" lIns="0" tIns="0" rIns="0" bIns="0" rtlCol="0" anchor="t"/>
          <a:lstStyle/>
          <a:p>
            <a:pPr marL="0" indent="0" algn="l">
              <a:lnSpc>
                <a:spcPts val="2050"/>
              </a:lnSpc>
              <a:buNone/>
            </a:pPr>
            <a:r>
              <a:rPr lang="en-US" sz="1400" dirty="0">
                <a:solidFill>
                  <a:srgbClr val="BFBFBF"/>
                </a:solidFill>
                <a:latin typeface="Open Sans" pitchFamily="34" charset="0"/>
                <a:ea typeface="Open Sans" pitchFamily="34" charset="-122"/>
                <a:cs typeface="Open Sans" pitchFamily="34" charset="-120"/>
              </a:rPr>
              <a:t>Each completed ride contributes positively to our revenue streams. However, every cancelled ride represents lost income without any additional marketing or acquisition costs.</a:t>
            </a:r>
            <a:endParaRPr lang="en-US" sz="1400" dirty="0"/>
          </a:p>
        </p:txBody>
      </p:sp>
      <p:sp>
        <p:nvSpPr>
          <p:cNvPr id="5" name="Text 3"/>
          <p:cNvSpPr/>
          <p:nvPr/>
        </p:nvSpPr>
        <p:spPr>
          <a:xfrm>
            <a:off x="1012746" y="3965377"/>
            <a:ext cx="4122063" cy="1318617"/>
          </a:xfrm>
          <a:prstGeom prst="rect">
            <a:avLst/>
          </a:prstGeom>
          <a:noFill/>
          <a:ln/>
        </p:spPr>
        <p:txBody>
          <a:bodyPr wrap="square" lIns="0" tIns="0" rIns="0" bIns="0" rtlCol="0" anchor="t"/>
          <a:lstStyle/>
          <a:p>
            <a:pPr marL="0" indent="0" algn="l">
              <a:lnSpc>
                <a:spcPts val="2050"/>
              </a:lnSpc>
              <a:buNone/>
            </a:pPr>
            <a:r>
              <a:rPr lang="en-US" sz="1400" dirty="0">
                <a:solidFill>
                  <a:srgbClr val="BFBFBF"/>
                </a:solidFill>
                <a:latin typeface="Open Sans" pitchFamily="34" charset="0"/>
                <a:ea typeface="Open Sans" pitchFamily="34" charset="-122"/>
                <a:cs typeface="Open Sans" pitchFamily="34" charset="-120"/>
              </a:rPr>
              <a:t>The current cancellation rate translates directly into a substantial amount of unrealised revenue. By reducing cancellations, we can significantly boost total revenue without needing to generate new demand.</a:t>
            </a:r>
            <a:endParaRPr lang="en-US" sz="1400" dirty="0"/>
          </a:p>
        </p:txBody>
      </p:sp>
      <p:sp>
        <p:nvSpPr>
          <p:cNvPr id="6" name="Shape 4"/>
          <p:cNvSpPr/>
          <p:nvPr/>
        </p:nvSpPr>
        <p:spPr>
          <a:xfrm>
            <a:off x="1012746" y="5449491"/>
            <a:ext cx="4122063" cy="1207532"/>
          </a:xfrm>
          <a:prstGeom prst="roundRect">
            <a:avLst>
              <a:gd name="adj" fmla="val 2269"/>
            </a:avLst>
          </a:prstGeom>
          <a:solidFill>
            <a:srgbClr val="494904"/>
          </a:solidFill>
          <a:ln/>
        </p:spPr>
      </p:sp>
      <p:pic>
        <p:nvPicPr>
          <p:cNvPr id="7" name="Image 0" descr="preencoded.png"/>
          <p:cNvPicPr>
            <a:picLocks noChangeAspect="1"/>
          </p:cNvPicPr>
          <p:nvPr/>
        </p:nvPicPr>
        <p:blipFill>
          <a:blip r:embed="rId3"/>
          <a:stretch>
            <a:fillRect/>
          </a:stretch>
        </p:blipFill>
        <p:spPr>
          <a:xfrm>
            <a:off x="1195387" y="5715953"/>
            <a:ext cx="228243" cy="182642"/>
          </a:xfrm>
          <a:prstGeom prst="rect">
            <a:avLst/>
          </a:prstGeom>
        </p:spPr>
      </p:pic>
      <p:sp>
        <p:nvSpPr>
          <p:cNvPr id="8" name="Text 5"/>
          <p:cNvSpPr/>
          <p:nvPr/>
        </p:nvSpPr>
        <p:spPr>
          <a:xfrm>
            <a:off x="1606272" y="5642134"/>
            <a:ext cx="3345894" cy="791170"/>
          </a:xfrm>
          <a:prstGeom prst="rect">
            <a:avLst/>
          </a:prstGeom>
          <a:noFill/>
          <a:ln/>
        </p:spPr>
        <p:txBody>
          <a:bodyPr wrap="square" lIns="0" tIns="0" rIns="0" bIns="0" rtlCol="0" anchor="t"/>
          <a:lstStyle/>
          <a:p>
            <a:pPr marL="0" indent="0" algn="l">
              <a:lnSpc>
                <a:spcPts val="2050"/>
              </a:lnSpc>
              <a:buNone/>
            </a:pPr>
            <a:r>
              <a:rPr lang="en-US" sz="1400" dirty="0">
                <a:solidFill>
                  <a:srgbClr val="FFFFFF"/>
                </a:solidFill>
                <a:latin typeface="Open Sans" pitchFamily="34" charset="0"/>
                <a:ea typeface="Open Sans" pitchFamily="34" charset="-122"/>
                <a:cs typeface="Open Sans" pitchFamily="34" charset="-120"/>
              </a:rPr>
              <a:t>Reducing cancellations by just 5% could unlock millions in additional annual revenue.</a:t>
            </a:r>
            <a:endParaRPr lang="en-US" sz="1400" dirty="0"/>
          </a:p>
        </p:txBody>
      </p:sp>
      <p:pic>
        <p:nvPicPr>
          <p:cNvPr id="9" name="Image 1" descr="preencoded.png"/>
          <p:cNvPicPr>
            <a:picLocks noChangeAspect="1"/>
          </p:cNvPicPr>
          <p:nvPr/>
        </p:nvPicPr>
        <p:blipFill>
          <a:blip r:embed="rId4"/>
          <a:stretch>
            <a:fillRect/>
          </a:stretch>
        </p:blipFill>
        <p:spPr>
          <a:xfrm>
            <a:off x="5587960" y="2233374"/>
            <a:ext cx="8037195" cy="45543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324" y="538520"/>
            <a:ext cx="5817870" cy="611981"/>
          </a:xfrm>
          <a:prstGeom prst="rect">
            <a:avLst/>
          </a:prstGeom>
          <a:noFill/>
          <a:ln/>
        </p:spPr>
        <p:txBody>
          <a:bodyPr wrap="none" lIns="0" tIns="0" rIns="0" bIns="0" rtlCol="0" anchor="t"/>
          <a:lstStyle/>
          <a:p>
            <a:pPr marL="0" indent="0" algn="l">
              <a:lnSpc>
                <a:spcPts val="4800"/>
              </a:lnSpc>
              <a:buNone/>
            </a:pPr>
            <a:r>
              <a:rPr lang="en-US" sz="3850" dirty="0">
                <a:solidFill>
                  <a:srgbClr val="FEFEFE"/>
                </a:solidFill>
                <a:latin typeface="Instrument Sans Medium" pitchFamily="34" charset="0"/>
                <a:ea typeface="Instrument Sans Medium" pitchFamily="34" charset="-122"/>
                <a:cs typeface="Instrument Sans Medium" pitchFamily="34" charset="-120"/>
              </a:rPr>
              <a:t>Payment Method Insights</a:t>
            </a:r>
            <a:endParaRPr lang="en-US" sz="3850" dirty="0"/>
          </a:p>
        </p:txBody>
      </p:sp>
      <p:pic>
        <p:nvPicPr>
          <p:cNvPr id="3" name="Image 0" descr="preencoded.png"/>
          <p:cNvPicPr>
            <a:picLocks noChangeAspect="1"/>
          </p:cNvPicPr>
          <p:nvPr/>
        </p:nvPicPr>
        <p:blipFill>
          <a:blip r:embed="rId3"/>
          <a:stretch>
            <a:fillRect/>
          </a:stretch>
        </p:blipFill>
        <p:spPr>
          <a:xfrm>
            <a:off x="685324" y="1488519"/>
            <a:ext cx="4279106" cy="4279106"/>
          </a:xfrm>
          <a:prstGeom prst="rect">
            <a:avLst/>
          </a:prstGeom>
        </p:spPr>
      </p:pic>
      <p:sp>
        <p:nvSpPr>
          <p:cNvPr id="4" name="Text 1"/>
          <p:cNvSpPr/>
          <p:nvPr/>
        </p:nvSpPr>
        <p:spPr>
          <a:xfrm>
            <a:off x="685324" y="5936575"/>
            <a:ext cx="2447806" cy="305991"/>
          </a:xfrm>
          <a:prstGeom prst="rect">
            <a:avLst/>
          </a:prstGeom>
          <a:noFill/>
          <a:ln/>
        </p:spPr>
        <p:txBody>
          <a:bodyPr wrap="none" lIns="0" tIns="0" rIns="0" bIns="0" rtlCol="0" anchor="t"/>
          <a:lstStyle/>
          <a:p>
            <a:pPr marL="0" indent="0" algn="l">
              <a:lnSpc>
                <a:spcPts val="2400"/>
              </a:lnSpc>
              <a:buNone/>
            </a:pPr>
            <a:r>
              <a:rPr lang="en-US" sz="1900" dirty="0">
                <a:solidFill>
                  <a:srgbClr val="BFBFBF"/>
                </a:solidFill>
                <a:latin typeface="Instrument Sans Medium" pitchFamily="34" charset="0"/>
                <a:ea typeface="Instrument Sans Medium" pitchFamily="34" charset="-122"/>
                <a:cs typeface="Instrument Sans Medium" pitchFamily="34" charset="-120"/>
              </a:rPr>
              <a:t>Cash</a:t>
            </a:r>
            <a:endParaRPr lang="en-US" sz="1900" dirty="0"/>
          </a:p>
        </p:txBody>
      </p:sp>
      <p:sp>
        <p:nvSpPr>
          <p:cNvPr id="5" name="Text 2"/>
          <p:cNvSpPr/>
          <p:nvPr/>
        </p:nvSpPr>
        <p:spPr>
          <a:xfrm>
            <a:off x="685324" y="6343888"/>
            <a:ext cx="4279106" cy="583883"/>
          </a:xfrm>
          <a:prstGeom prst="rect">
            <a:avLst/>
          </a:prstGeom>
          <a:noFill/>
          <a:ln/>
        </p:spPr>
        <p:txBody>
          <a:bodyPr wrap="square" lIns="0" tIns="0" rIns="0" bIns="0" rtlCol="0" anchor="t"/>
          <a:lstStyle/>
          <a:p>
            <a:pPr marL="0" indent="0" algn="l">
              <a:lnSpc>
                <a:spcPts val="2250"/>
              </a:lnSpc>
              <a:buNone/>
            </a:pPr>
            <a:r>
              <a:rPr lang="en-US" sz="1500" dirty="0">
                <a:solidFill>
                  <a:srgbClr val="BFBFBF"/>
                </a:solidFill>
                <a:latin typeface="Open Sans" pitchFamily="34" charset="0"/>
                <a:ea typeface="Open Sans" pitchFamily="34" charset="-122"/>
                <a:cs typeface="Open Sans" pitchFamily="34" charset="-120"/>
              </a:rPr>
              <a:t>Dominant in specific markets, offering flexibility but requiring driver float.</a:t>
            </a:r>
            <a:endParaRPr lang="en-US" sz="1500" dirty="0"/>
          </a:p>
        </p:txBody>
      </p:sp>
      <p:pic>
        <p:nvPicPr>
          <p:cNvPr id="6" name="Image 1" descr="preencoded.png"/>
          <p:cNvPicPr>
            <a:picLocks noChangeAspect="1"/>
          </p:cNvPicPr>
          <p:nvPr/>
        </p:nvPicPr>
        <p:blipFill>
          <a:blip r:embed="rId4"/>
          <a:stretch>
            <a:fillRect/>
          </a:stretch>
        </p:blipFill>
        <p:spPr>
          <a:xfrm>
            <a:off x="5175647" y="1488519"/>
            <a:ext cx="4279106" cy="4279106"/>
          </a:xfrm>
          <a:prstGeom prst="rect">
            <a:avLst/>
          </a:prstGeom>
        </p:spPr>
      </p:pic>
      <p:sp>
        <p:nvSpPr>
          <p:cNvPr id="7" name="Text 3"/>
          <p:cNvSpPr/>
          <p:nvPr/>
        </p:nvSpPr>
        <p:spPr>
          <a:xfrm>
            <a:off x="5175647" y="5936575"/>
            <a:ext cx="3693557" cy="305991"/>
          </a:xfrm>
          <a:prstGeom prst="rect">
            <a:avLst/>
          </a:prstGeom>
          <a:noFill/>
          <a:ln/>
        </p:spPr>
        <p:txBody>
          <a:bodyPr wrap="none" lIns="0" tIns="0" rIns="0" bIns="0" rtlCol="0" anchor="t"/>
          <a:lstStyle/>
          <a:p>
            <a:pPr marL="0" indent="0" algn="l">
              <a:lnSpc>
                <a:spcPts val="2400"/>
              </a:lnSpc>
              <a:buNone/>
            </a:pPr>
            <a:r>
              <a:rPr lang="en-US" sz="1900" dirty="0">
                <a:solidFill>
                  <a:srgbClr val="BFBFBF"/>
                </a:solidFill>
                <a:latin typeface="Instrument Sans Medium" pitchFamily="34" charset="0"/>
                <a:ea typeface="Instrument Sans Medium" pitchFamily="34" charset="-122"/>
                <a:cs typeface="Instrument Sans Medium" pitchFamily="34" charset="-120"/>
              </a:rPr>
              <a:t>UPI (Unified Payments Interface)</a:t>
            </a:r>
            <a:endParaRPr lang="en-US" sz="1900" dirty="0"/>
          </a:p>
        </p:txBody>
      </p:sp>
      <p:sp>
        <p:nvSpPr>
          <p:cNvPr id="8" name="Text 4"/>
          <p:cNvSpPr/>
          <p:nvPr/>
        </p:nvSpPr>
        <p:spPr>
          <a:xfrm>
            <a:off x="5175647" y="6343888"/>
            <a:ext cx="4279106" cy="583883"/>
          </a:xfrm>
          <a:prstGeom prst="rect">
            <a:avLst/>
          </a:prstGeom>
          <a:noFill/>
          <a:ln/>
        </p:spPr>
        <p:txBody>
          <a:bodyPr wrap="square" lIns="0" tIns="0" rIns="0" bIns="0" rtlCol="0" anchor="t"/>
          <a:lstStyle/>
          <a:p>
            <a:pPr marL="0" indent="0" algn="l">
              <a:lnSpc>
                <a:spcPts val="2250"/>
              </a:lnSpc>
              <a:buNone/>
            </a:pPr>
            <a:r>
              <a:rPr lang="en-US" sz="1500" dirty="0">
                <a:solidFill>
                  <a:srgbClr val="BFBFBF"/>
                </a:solidFill>
                <a:latin typeface="Open Sans" pitchFamily="34" charset="0"/>
                <a:ea typeface="Open Sans" pitchFamily="34" charset="-122"/>
                <a:cs typeface="Open Sans" pitchFamily="34" charset="-120"/>
              </a:rPr>
              <a:t>Growing rapidly, preferred for its convenience and instant transactions.</a:t>
            </a:r>
            <a:endParaRPr lang="en-US" sz="1500" dirty="0"/>
          </a:p>
        </p:txBody>
      </p:sp>
      <p:pic>
        <p:nvPicPr>
          <p:cNvPr id="9" name="Image 2" descr="preencoded.png"/>
          <p:cNvPicPr>
            <a:picLocks noChangeAspect="1"/>
          </p:cNvPicPr>
          <p:nvPr/>
        </p:nvPicPr>
        <p:blipFill>
          <a:blip r:embed="rId5"/>
          <a:stretch>
            <a:fillRect/>
          </a:stretch>
        </p:blipFill>
        <p:spPr>
          <a:xfrm>
            <a:off x="9665970" y="1488519"/>
            <a:ext cx="4279106" cy="4279106"/>
          </a:xfrm>
          <a:prstGeom prst="rect">
            <a:avLst/>
          </a:prstGeom>
        </p:spPr>
      </p:pic>
      <p:sp>
        <p:nvSpPr>
          <p:cNvPr id="10" name="Text 5"/>
          <p:cNvSpPr/>
          <p:nvPr/>
        </p:nvSpPr>
        <p:spPr>
          <a:xfrm>
            <a:off x="9665970" y="5936575"/>
            <a:ext cx="3319224" cy="305991"/>
          </a:xfrm>
          <a:prstGeom prst="rect">
            <a:avLst/>
          </a:prstGeom>
          <a:noFill/>
          <a:ln/>
        </p:spPr>
        <p:txBody>
          <a:bodyPr wrap="none" lIns="0" tIns="0" rIns="0" bIns="0" rtlCol="0" anchor="t"/>
          <a:lstStyle/>
          <a:p>
            <a:pPr marL="0" indent="0" algn="l">
              <a:lnSpc>
                <a:spcPts val="2400"/>
              </a:lnSpc>
              <a:buNone/>
            </a:pPr>
            <a:r>
              <a:rPr lang="en-US" sz="1900" dirty="0">
                <a:solidFill>
                  <a:srgbClr val="BFBFBF"/>
                </a:solidFill>
                <a:latin typeface="Instrument Sans Medium" pitchFamily="34" charset="0"/>
                <a:ea typeface="Instrument Sans Medium" pitchFamily="34" charset="-122"/>
                <a:cs typeface="Instrument Sans Medium" pitchFamily="34" charset="-120"/>
              </a:rPr>
              <a:t>Cards &amp; Other Digital Wallets</a:t>
            </a:r>
            <a:endParaRPr lang="en-US" sz="1900" dirty="0"/>
          </a:p>
        </p:txBody>
      </p:sp>
      <p:sp>
        <p:nvSpPr>
          <p:cNvPr id="11" name="Text 6"/>
          <p:cNvSpPr/>
          <p:nvPr/>
        </p:nvSpPr>
        <p:spPr>
          <a:xfrm>
            <a:off x="9665970" y="6343888"/>
            <a:ext cx="4279106" cy="583883"/>
          </a:xfrm>
          <a:prstGeom prst="rect">
            <a:avLst/>
          </a:prstGeom>
          <a:noFill/>
          <a:ln/>
        </p:spPr>
        <p:txBody>
          <a:bodyPr wrap="square" lIns="0" tIns="0" rIns="0" bIns="0" rtlCol="0" anchor="t"/>
          <a:lstStyle/>
          <a:p>
            <a:pPr marL="0" indent="0" algn="l">
              <a:lnSpc>
                <a:spcPts val="2250"/>
              </a:lnSpc>
              <a:buNone/>
            </a:pPr>
            <a:r>
              <a:rPr lang="en-US" sz="1500" dirty="0">
                <a:solidFill>
                  <a:srgbClr val="BFBFBF"/>
                </a:solidFill>
                <a:latin typeface="Open Sans" pitchFamily="34" charset="0"/>
                <a:ea typeface="Open Sans" pitchFamily="34" charset="-122"/>
                <a:cs typeface="Open Sans" pitchFamily="34" charset="-120"/>
              </a:rPr>
              <a:t>Consistent usage, offering secure and trackable transactions.</a:t>
            </a:r>
            <a:endParaRPr lang="en-US" sz="1500" dirty="0"/>
          </a:p>
        </p:txBody>
      </p:sp>
      <p:sp>
        <p:nvSpPr>
          <p:cNvPr id="12" name="Text 7"/>
          <p:cNvSpPr/>
          <p:nvPr/>
        </p:nvSpPr>
        <p:spPr>
          <a:xfrm>
            <a:off x="685324" y="7117913"/>
            <a:ext cx="13259753" cy="583883"/>
          </a:xfrm>
          <a:prstGeom prst="rect">
            <a:avLst/>
          </a:prstGeom>
          <a:noFill/>
          <a:ln/>
        </p:spPr>
        <p:txBody>
          <a:bodyPr wrap="square" lIns="0" tIns="0" rIns="0" bIns="0" rtlCol="0" anchor="t"/>
          <a:lstStyle/>
          <a:p>
            <a:pPr marL="0" indent="0" algn="l">
              <a:lnSpc>
                <a:spcPts val="2250"/>
              </a:lnSpc>
              <a:buNone/>
            </a:pPr>
            <a:r>
              <a:rPr lang="en-US" sz="1500" dirty="0">
                <a:solidFill>
                  <a:srgbClr val="BFBFBF"/>
                </a:solidFill>
                <a:latin typeface="Open Sans" pitchFamily="34" charset="0"/>
                <a:ea typeface="Open Sans" pitchFamily="34" charset="-122"/>
                <a:cs typeface="Open Sans" pitchFamily="34" charset="-120"/>
              </a:rPr>
              <a:t>While payment methods vary, the data suggests they are not a primary driver of ride cancellations. The cancellation issue appears largely independent of how customers intend to pay.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87981"/>
            <a:ext cx="8483084"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Daily Booking Trends &amp; Volatility</a:t>
            </a:r>
            <a:endParaRPr lang="en-US" sz="4450" dirty="0"/>
          </a:p>
        </p:txBody>
      </p:sp>
      <p:pic>
        <p:nvPicPr>
          <p:cNvPr id="3" name="Image 0" descr="preencoded.png"/>
          <p:cNvPicPr>
            <a:picLocks noChangeAspect="1"/>
          </p:cNvPicPr>
          <p:nvPr/>
        </p:nvPicPr>
        <p:blipFill>
          <a:blip r:embed="rId3"/>
          <a:stretch>
            <a:fillRect/>
          </a:stretch>
        </p:blipFill>
        <p:spPr>
          <a:xfrm>
            <a:off x="793790" y="2292072"/>
            <a:ext cx="8284131" cy="4694277"/>
          </a:xfrm>
          <a:prstGeom prst="rect">
            <a:avLst/>
          </a:prstGeom>
        </p:spPr>
      </p:pic>
      <p:sp>
        <p:nvSpPr>
          <p:cNvPr id="4" name="Text 1"/>
          <p:cNvSpPr/>
          <p:nvPr/>
        </p:nvSpPr>
        <p:spPr>
          <a:xfrm>
            <a:off x="9638943" y="2359700"/>
            <a:ext cx="4205168" cy="217741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Analysis of daily booking volumes reveals significant volatility throughout July. Peaks and troughs in demand present operational challenges, often contributing to driver unavailability during surge periods.</a:t>
            </a:r>
            <a:endParaRPr lang="en-US" sz="1750" dirty="0"/>
          </a:p>
        </p:txBody>
      </p:sp>
      <p:sp>
        <p:nvSpPr>
          <p:cNvPr id="5" name="Text 2"/>
          <p:cNvSpPr/>
          <p:nvPr/>
        </p:nvSpPr>
        <p:spPr>
          <a:xfrm>
            <a:off x="9638943" y="4741188"/>
            <a:ext cx="4205168" cy="217741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Managing this fluctuating demand effectively is crucial for maintaining service levels and reducing cancellations, particularly during high-demand windows where supply often lags.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43082"/>
            <a:ext cx="7526655"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Strategic Recommendations</a:t>
            </a:r>
            <a:endParaRPr lang="en-US" sz="4450" dirty="0"/>
          </a:p>
        </p:txBody>
      </p:sp>
      <p:sp>
        <p:nvSpPr>
          <p:cNvPr id="3" name="Shape 1"/>
          <p:cNvSpPr/>
          <p:nvPr/>
        </p:nvSpPr>
        <p:spPr>
          <a:xfrm>
            <a:off x="793790" y="2005489"/>
            <a:ext cx="6407944" cy="2577108"/>
          </a:xfrm>
          <a:prstGeom prst="roundRect">
            <a:avLst>
              <a:gd name="adj" fmla="val 1320"/>
            </a:avLst>
          </a:prstGeom>
          <a:solidFill>
            <a:srgbClr val="3E3E3E"/>
          </a:solidFill>
          <a:ln/>
        </p:spPr>
      </p:sp>
      <p:sp>
        <p:nvSpPr>
          <p:cNvPr id="4" name="Shape 2"/>
          <p:cNvSpPr/>
          <p:nvPr/>
        </p:nvSpPr>
        <p:spPr>
          <a:xfrm>
            <a:off x="1020604" y="2232303"/>
            <a:ext cx="680442" cy="680442"/>
          </a:xfrm>
          <a:prstGeom prst="roundRect">
            <a:avLst>
              <a:gd name="adj" fmla="val 13436980"/>
            </a:avLst>
          </a:prstGeom>
          <a:solidFill>
            <a:srgbClr val="F5F547"/>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7770" y="2419350"/>
            <a:ext cx="306110" cy="306110"/>
          </a:xfrm>
          <a:prstGeom prst="rect">
            <a:avLst/>
          </a:prstGeom>
        </p:spPr>
      </p:pic>
      <p:sp>
        <p:nvSpPr>
          <p:cNvPr id="6" name="Text 3"/>
          <p:cNvSpPr/>
          <p:nvPr/>
        </p:nvSpPr>
        <p:spPr>
          <a:xfrm>
            <a:off x="1020604" y="3139559"/>
            <a:ext cx="3556873" cy="354330"/>
          </a:xfrm>
          <a:prstGeom prst="rect">
            <a:avLst/>
          </a:prstGeom>
          <a:noFill/>
          <a:ln/>
        </p:spPr>
        <p:txBody>
          <a:bodyPr wrap="non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Optimise Driver Availability</a:t>
            </a:r>
            <a:endParaRPr lang="en-US" sz="2200" dirty="0"/>
          </a:p>
        </p:txBody>
      </p:sp>
      <p:sp>
        <p:nvSpPr>
          <p:cNvPr id="7" name="Text 4"/>
          <p:cNvSpPr/>
          <p:nvPr/>
        </p:nvSpPr>
        <p:spPr>
          <a:xfrm>
            <a:off x="1020604" y="3629978"/>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Implement dynamic incentives during peak hours to ensure sufficient driver supply.</a:t>
            </a:r>
            <a:endParaRPr lang="en-US" sz="1750" dirty="0"/>
          </a:p>
        </p:txBody>
      </p:sp>
      <p:sp>
        <p:nvSpPr>
          <p:cNvPr id="8" name="Shape 5"/>
          <p:cNvSpPr/>
          <p:nvPr/>
        </p:nvSpPr>
        <p:spPr>
          <a:xfrm>
            <a:off x="7428548" y="2005489"/>
            <a:ext cx="6408063" cy="2577108"/>
          </a:xfrm>
          <a:prstGeom prst="roundRect">
            <a:avLst>
              <a:gd name="adj" fmla="val 1320"/>
            </a:avLst>
          </a:prstGeom>
          <a:solidFill>
            <a:srgbClr val="3E3E3E"/>
          </a:solidFill>
          <a:ln/>
        </p:spPr>
      </p:sp>
      <p:sp>
        <p:nvSpPr>
          <p:cNvPr id="9" name="Shape 6"/>
          <p:cNvSpPr/>
          <p:nvPr/>
        </p:nvSpPr>
        <p:spPr>
          <a:xfrm>
            <a:off x="7655362" y="2232303"/>
            <a:ext cx="680442" cy="680442"/>
          </a:xfrm>
          <a:prstGeom prst="roundRect">
            <a:avLst>
              <a:gd name="adj" fmla="val 13436980"/>
            </a:avLst>
          </a:prstGeom>
          <a:solidFill>
            <a:srgbClr val="F5F547"/>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42528" y="2419350"/>
            <a:ext cx="306110" cy="306110"/>
          </a:xfrm>
          <a:prstGeom prst="rect">
            <a:avLst/>
          </a:prstGeom>
        </p:spPr>
      </p:pic>
      <p:sp>
        <p:nvSpPr>
          <p:cNvPr id="11" name="Text 7"/>
          <p:cNvSpPr/>
          <p:nvPr/>
        </p:nvSpPr>
        <p:spPr>
          <a:xfrm>
            <a:off x="7655362" y="3139559"/>
            <a:ext cx="3797498" cy="354330"/>
          </a:xfrm>
          <a:prstGeom prst="rect">
            <a:avLst/>
          </a:prstGeom>
          <a:noFill/>
          <a:ln/>
        </p:spPr>
        <p:txBody>
          <a:bodyPr wrap="non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Address Driver Cancellations</a:t>
            </a:r>
            <a:endParaRPr lang="en-US" sz="2200" dirty="0"/>
          </a:p>
        </p:txBody>
      </p:sp>
      <p:sp>
        <p:nvSpPr>
          <p:cNvPr id="12" name="Text 8"/>
          <p:cNvSpPr/>
          <p:nvPr/>
        </p:nvSpPr>
        <p:spPr>
          <a:xfrm>
            <a:off x="7655362" y="3629978"/>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Introduce penalties for frequent driver-initiated cancellations to encourage commitment.</a:t>
            </a:r>
            <a:endParaRPr lang="en-US" sz="1750" dirty="0"/>
          </a:p>
        </p:txBody>
      </p:sp>
      <p:sp>
        <p:nvSpPr>
          <p:cNvPr id="13" name="Shape 9"/>
          <p:cNvSpPr/>
          <p:nvPr/>
        </p:nvSpPr>
        <p:spPr>
          <a:xfrm>
            <a:off x="793790" y="4809411"/>
            <a:ext cx="6407944" cy="2577108"/>
          </a:xfrm>
          <a:prstGeom prst="roundRect">
            <a:avLst>
              <a:gd name="adj" fmla="val 1320"/>
            </a:avLst>
          </a:prstGeom>
          <a:solidFill>
            <a:srgbClr val="3E3E3E"/>
          </a:solidFill>
          <a:ln/>
        </p:spPr>
      </p:sp>
      <p:sp>
        <p:nvSpPr>
          <p:cNvPr id="14" name="Shape 10"/>
          <p:cNvSpPr/>
          <p:nvPr/>
        </p:nvSpPr>
        <p:spPr>
          <a:xfrm>
            <a:off x="1020604" y="5036225"/>
            <a:ext cx="680442" cy="680442"/>
          </a:xfrm>
          <a:prstGeom prst="roundRect">
            <a:avLst>
              <a:gd name="adj" fmla="val 13436980"/>
            </a:avLst>
          </a:prstGeom>
          <a:solidFill>
            <a:srgbClr val="F5F547"/>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07770" y="5223272"/>
            <a:ext cx="306110" cy="306110"/>
          </a:xfrm>
          <a:prstGeom prst="rect">
            <a:avLst/>
          </a:prstGeom>
        </p:spPr>
      </p:pic>
      <p:sp>
        <p:nvSpPr>
          <p:cNvPr id="16" name="Text 11"/>
          <p:cNvSpPr/>
          <p:nvPr/>
        </p:nvSpPr>
        <p:spPr>
          <a:xfrm>
            <a:off x="1020604" y="5943481"/>
            <a:ext cx="3690104" cy="354330"/>
          </a:xfrm>
          <a:prstGeom prst="rect">
            <a:avLst/>
          </a:prstGeom>
          <a:noFill/>
          <a:ln/>
        </p:spPr>
        <p:txBody>
          <a:bodyPr wrap="non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Incentivise Ride Completion</a:t>
            </a:r>
            <a:endParaRPr lang="en-US" sz="2200" dirty="0"/>
          </a:p>
        </p:txBody>
      </p:sp>
      <p:sp>
        <p:nvSpPr>
          <p:cNvPr id="17" name="Text 12"/>
          <p:cNvSpPr/>
          <p:nvPr/>
        </p:nvSpPr>
        <p:spPr>
          <a:xfrm>
            <a:off x="1020604" y="6433899"/>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Reward drivers for high completion rates and consistent service quality.</a:t>
            </a:r>
            <a:endParaRPr lang="en-US" sz="1750" dirty="0"/>
          </a:p>
        </p:txBody>
      </p:sp>
      <p:sp>
        <p:nvSpPr>
          <p:cNvPr id="18" name="Shape 13"/>
          <p:cNvSpPr/>
          <p:nvPr/>
        </p:nvSpPr>
        <p:spPr>
          <a:xfrm>
            <a:off x="7428548" y="4809411"/>
            <a:ext cx="6408063" cy="2577108"/>
          </a:xfrm>
          <a:prstGeom prst="roundRect">
            <a:avLst>
              <a:gd name="adj" fmla="val 1320"/>
            </a:avLst>
          </a:prstGeom>
          <a:solidFill>
            <a:srgbClr val="3E3E3E"/>
          </a:solidFill>
          <a:ln/>
        </p:spPr>
      </p:sp>
      <p:sp>
        <p:nvSpPr>
          <p:cNvPr id="19" name="Shape 14"/>
          <p:cNvSpPr/>
          <p:nvPr/>
        </p:nvSpPr>
        <p:spPr>
          <a:xfrm>
            <a:off x="7655362" y="5036225"/>
            <a:ext cx="680442" cy="680442"/>
          </a:xfrm>
          <a:prstGeom prst="roundRect">
            <a:avLst>
              <a:gd name="adj" fmla="val 13436980"/>
            </a:avLst>
          </a:prstGeom>
          <a:solidFill>
            <a:srgbClr val="F5F547"/>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42528" y="5223272"/>
            <a:ext cx="306110" cy="306110"/>
          </a:xfrm>
          <a:prstGeom prst="rect">
            <a:avLst/>
          </a:prstGeom>
        </p:spPr>
      </p:pic>
      <p:sp>
        <p:nvSpPr>
          <p:cNvPr id="21" name="Text 15"/>
          <p:cNvSpPr/>
          <p:nvPr/>
        </p:nvSpPr>
        <p:spPr>
          <a:xfrm>
            <a:off x="7655362" y="5943481"/>
            <a:ext cx="4003834" cy="354330"/>
          </a:xfrm>
          <a:prstGeom prst="rect">
            <a:avLst/>
          </a:prstGeom>
          <a:noFill/>
          <a:ln/>
        </p:spPr>
        <p:txBody>
          <a:bodyPr wrap="non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Enhance Matching Algorithms</a:t>
            </a:r>
            <a:endParaRPr lang="en-US" sz="2200" dirty="0"/>
          </a:p>
        </p:txBody>
      </p:sp>
      <p:sp>
        <p:nvSpPr>
          <p:cNvPr id="22" name="Text 16"/>
          <p:cNvSpPr/>
          <p:nvPr/>
        </p:nvSpPr>
        <p:spPr>
          <a:xfrm>
            <a:off x="7655362" y="6433899"/>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Refine ETA accuracy and driver-rider matching logic to minimise "Driver Not Found" instances.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9856" y="589240"/>
            <a:ext cx="7603688" cy="669488"/>
          </a:xfrm>
          <a:prstGeom prst="rect">
            <a:avLst/>
          </a:prstGeom>
          <a:noFill/>
          <a:ln/>
        </p:spPr>
        <p:txBody>
          <a:bodyPr wrap="none" lIns="0" tIns="0" rIns="0" bIns="0" rtlCol="0" anchor="t"/>
          <a:lstStyle/>
          <a:p>
            <a:pPr marL="0" indent="0" algn="l">
              <a:lnSpc>
                <a:spcPts val="5250"/>
              </a:lnSpc>
              <a:buNone/>
            </a:pPr>
            <a:r>
              <a:rPr lang="en-US" sz="4200" dirty="0">
                <a:solidFill>
                  <a:srgbClr val="FEFEFE"/>
                </a:solidFill>
                <a:latin typeface="Instrument Sans Medium" pitchFamily="34" charset="0"/>
                <a:ea typeface="Instrument Sans Medium" pitchFamily="34" charset="-122"/>
                <a:cs typeface="Instrument Sans Medium" pitchFamily="34" charset="-120"/>
              </a:rPr>
              <a:t>Conclusion &amp; Forward Outlook</a:t>
            </a:r>
            <a:endParaRPr lang="en-US" sz="4200" dirty="0"/>
          </a:p>
        </p:txBody>
      </p:sp>
      <p:sp>
        <p:nvSpPr>
          <p:cNvPr id="3" name="Text 1"/>
          <p:cNvSpPr/>
          <p:nvPr/>
        </p:nvSpPr>
        <p:spPr>
          <a:xfrm>
            <a:off x="749856" y="3202662"/>
            <a:ext cx="8351996" cy="1333500"/>
          </a:xfrm>
          <a:prstGeom prst="rect">
            <a:avLst/>
          </a:prstGeom>
          <a:noFill/>
          <a:ln/>
        </p:spPr>
        <p:txBody>
          <a:bodyPr wrap="square" lIns="0" tIns="0" rIns="0" bIns="0" rtlCol="0" anchor="t"/>
          <a:lstStyle/>
          <a:p>
            <a:pPr marL="0" indent="0" algn="l">
              <a:lnSpc>
                <a:spcPts val="2600"/>
              </a:lnSpc>
              <a:buNone/>
            </a:pPr>
            <a:r>
              <a:rPr lang="en-US" sz="1650" dirty="0">
                <a:solidFill>
                  <a:srgbClr val="BFBFBF"/>
                </a:solidFill>
                <a:latin typeface="Open Sans" pitchFamily="34" charset="0"/>
                <a:ea typeface="Open Sans" pitchFamily="34" charset="-122"/>
                <a:cs typeface="Open Sans" pitchFamily="34" charset="-120"/>
              </a:rPr>
              <a:t>Our analysis for July 2024 unequivocally points to supply-side issues as the primary driver of ride cancellations. Addressing driver availability, reducing driver-initiated cancellations, and improving matching efficiency are critical for unlocking significant business value.</a:t>
            </a:r>
            <a:endParaRPr lang="en-US" sz="1650" dirty="0"/>
          </a:p>
        </p:txBody>
      </p:sp>
      <p:sp>
        <p:nvSpPr>
          <p:cNvPr id="4" name="Text 2"/>
          <p:cNvSpPr/>
          <p:nvPr/>
        </p:nvSpPr>
        <p:spPr>
          <a:xfrm>
            <a:off x="749856" y="4718328"/>
            <a:ext cx="8351996" cy="1333500"/>
          </a:xfrm>
          <a:prstGeom prst="rect">
            <a:avLst/>
          </a:prstGeom>
          <a:noFill/>
          <a:ln/>
        </p:spPr>
        <p:txBody>
          <a:bodyPr wrap="square" lIns="0" tIns="0" rIns="0" bIns="0" rtlCol="0" anchor="t"/>
          <a:lstStyle/>
          <a:p>
            <a:pPr marL="0" indent="0" algn="l">
              <a:lnSpc>
                <a:spcPts val="2600"/>
              </a:lnSpc>
              <a:buNone/>
            </a:pPr>
            <a:r>
              <a:rPr lang="en-US" sz="1650" dirty="0">
                <a:solidFill>
                  <a:srgbClr val="BFBFBF"/>
                </a:solidFill>
                <a:latin typeface="Open Sans" pitchFamily="34" charset="0"/>
                <a:ea typeface="Open Sans" pitchFamily="34" charset="-122"/>
                <a:cs typeface="Open Sans" pitchFamily="34" charset="-120"/>
              </a:rPr>
              <a:t>By focusing on these operational improvements, we can enhance customer satisfaction, increase revenue from existing demand, and strengthen our market position. There is also considerable scope for future predictive analytics to anticipate demand fluctuations and pre-empt supply-side challenges.</a:t>
            </a:r>
            <a:endParaRPr lang="en-US" sz="1650" dirty="0"/>
          </a:p>
        </p:txBody>
      </p:sp>
      <p:pic>
        <p:nvPicPr>
          <p:cNvPr id="5" name="Image 0" descr="preencoded.png"/>
          <p:cNvPicPr>
            <a:picLocks noChangeAspect="1"/>
          </p:cNvPicPr>
          <p:nvPr/>
        </p:nvPicPr>
        <p:blipFill>
          <a:blip r:embed="rId3"/>
          <a:stretch>
            <a:fillRect/>
          </a:stretch>
        </p:blipFill>
        <p:spPr>
          <a:xfrm>
            <a:off x="9632156" y="1789986"/>
            <a:ext cx="4255889" cy="56745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687</Words>
  <Application>Microsoft Office PowerPoint</Application>
  <PresentationFormat>Custom</PresentationFormat>
  <Paragraphs>71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Open Sans</vt:lpstr>
      <vt:lpstr>Arial</vt:lpstr>
      <vt:lpstr>Instrument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ksaneeshkashyap@gmail.com</cp:lastModifiedBy>
  <cp:revision>3</cp:revision>
  <dcterms:created xsi:type="dcterms:W3CDTF">2026-02-01T09:10:40Z</dcterms:created>
  <dcterms:modified xsi:type="dcterms:W3CDTF">2026-02-01T09:19:10Z</dcterms:modified>
</cp:coreProperties>
</file>